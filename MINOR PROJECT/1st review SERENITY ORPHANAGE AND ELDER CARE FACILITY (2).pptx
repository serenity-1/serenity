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Montserrat" panose="00000500000000000000" pitchFamily="2" charset="0"/>
      <p:regular r:id="rId16"/>
    </p:embeddedFont>
    <p:embeddedFont>
      <p:font typeface="Montserrat Bold" panose="00000800000000000000" charset="0"/>
      <p:regular r:id="rId17"/>
    </p:embeddedFont>
    <p:embeddedFont>
      <p:font typeface="Montserrat Medium" panose="00000600000000000000" pitchFamily="2" charset="0"/>
      <p:regular r:id="rId18"/>
      <p:italic r:id="rId19"/>
    </p:embeddedFont>
    <p:embeddedFont>
      <p:font typeface="Montserrat Semi-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jp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14964"/>
        </a:solidFill>
        <a:effectLst/>
      </p:bgPr>
    </p:bg>
    <p:spTree>
      <p:nvGrpSpPr>
        <p:cNvPr id="1" name=""/>
        <p:cNvGrpSpPr/>
        <p:nvPr/>
      </p:nvGrpSpPr>
      <p:grpSpPr>
        <a:xfrm>
          <a:off x="0" y="0"/>
          <a:ext cx="0" cy="0"/>
          <a:chOff x="0" y="0"/>
          <a:chExt cx="0" cy="0"/>
        </a:xfrm>
      </p:grpSpPr>
      <p:grpSp>
        <p:nvGrpSpPr>
          <p:cNvPr id="2" name="Group 2"/>
          <p:cNvGrpSpPr/>
          <p:nvPr/>
        </p:nvGrpSpPr>
        <p:grpSpPr>
          <a:xfrm>
            <a:off x="10314255" y="1028700"/>
            <a:ext cx="7259572" cy="5977910"/>
            <a:chOff x="0" y="0"/>
            <a:chExt cx="9679430" cy="7970547"/>
          </a:xfrm>
        </p:grpSpPr>
        <p:pic>
          <p:nvPicPr>
            <p:cNvPr id="3" name="Picture 3"/>
            <p:cNvPicPr>
              <a:picLocks noChangeAspect="1"/>
            </p:cNvPicPr>
            <p:nvPr/>
          </p:nvPicPr>
          <p:blipFill>
            <a:blip r:embed="rId2"/>
            <a:srcRect l="9520" r="9520"/>
            <a:stretch>
              <a:fillRect/>
            </a:stretch>
          </p:blipFill>
          <p:spPr>
            <a:xfrm>
              <a:off x="0" y="0"/>
              <a:ext cx="9679430" cy="7970547"/>
            </a:xfrm>
            <a:prstGeom prst="rect">
              <a:avLst/>
            </a:prstGeom>
          </p:spPr>
        </p:pic>
      </p:grpSp>
      <p:sp>
        <p:nvSpPr>
          <p:cNvPr id="4" name="AutoShape 4"/>
          <p:cNvSpPr/>
          <p:nvPr/>
        </p:nvSpPr>
        <p:spPr>
          <a:xfrm>
            <a:off x="1028700" y="9344240"/>
            <a:ext cx="4232004" cy="0"/>
          </a:xfrm>
          <a:prstGeom prst="line">
            <a:avLst/>
          </a:prstGeom>
          <a:ln w="9525" cap="rnd">
            <a:solidFill>
              <a:srgbClr val="EAE3D6"/>
            </a:solidFill>
            <a:prstDash val="solid"/>
            <a:headEnd type="none" w="sm" len="sm"/>
            <a:tailEnd type="none" w="sm" len="sm"/>
          </a:ln>
        </p:spPr>
      </p:sp>
      <p:sp>
        <p:nvSpPr>
          <p:cNvPr id="5" name="TextBox 5"/>
          <p:cNvSpPr txBox="1"/>
          <p:nvPr/>
        </p:nvSpPr>
        <p:spPr>
          <a:xfrm>
            <a:off x="1028700" y="1980714"/>
            <a:ext cx="8719913" cy="2600325"/>
          </a:xfrm>
          <a:prstGeom prst="rect">
            <a:avLst/>
          </a:prstGeom>
        </p:spPr>
        <p:txBody>
          <a:bodyPr lIns="0" tIns="0" rIns="0" bIns="0" rtlCol="0" anchor="t">
            <a:spAutoFit/>
          </a:bodyPr>
          <a:lstStyle/>
          <a:p>
            <a:pPr algn="l">
              <a:lnSpc>
                <a:spcPts val="6841"/>
              </a:lnSpc>
            </a:pPr>
            <a:r>
              <a:rPr lang="en-US" sz="5701">
                <a:solidFill>
                  <a:srgbClr val="FFFFFF"/>
                </a:solidFill>
                <a:latin typeface="Montserrat Semi-Bold"/>
                <a:ea typeface="Montserrat Semi-Bold"/>
                <a:cs typeface="Montserrat Semi-Bold"/>
                <a:sym typeface="Montserrat Semi-Bold"/>
              </a:rPr>
              <a:t>SERENITY ORPHANAGE AND ELDER CARE FACILITY </a:t>
            </a:r>
          </a:p>
        </p:txBody>
      </p:sp>
      <p:sp>
        <p:nvSpPr>
          <p:cNvPr id="6" name="TextBox 6"/>
          <p:cNvSpPr txBox="1"/>
          <p:nvPr/>
        </p:nvSpPr>
        <p:spPr>
          <a:xfrm>
            <a:off x="1031068" y="7241708"/>
            <a:ext cx="6207931" cy="1711687"/>
          </a:xfrm>
          <a:prstGeom prst="rect">
            <a:avLst/>
          </a:prstGeom>
        </p:spPr>
        <p:txBody>
          <a:bodyPr wrap="square" lIns="0" tIns="0" rIns="0" bIns="0" rtlCol="0" anchor="t">
            <a:spAutoFit/>
          </a:bodyPr>
          <a:lstStyle/>
          <a:p>
            <a:pPr algn="l">
              <a:lnSpc>
                <a:spcPts val="3386"/>
              </a:lnSpc>
            </a:pPr>
            <a:r>
              <a:rPr lang="en-US" sz="2418" dirty="0">
                <a:solidFill>
                  <a:srgbClr val="FFFFFF"/>
                </a:solidFill>
                <a:latin typeface="Montserrat"/>
                <a:ea typeface="Montserrat"/>
                <a:cs typeface="Montserrat"/>
                <a:sym typeface="Montserrat"/>
              </a:rPr>
              <a:t>PREPARED BY-</a:t>
            </a:r>
          </a:p>
          <a:p>
            <a:pPr algn="l">
              <a:lnSpc>
                <a:spcPts val="3386"/>
              </a:lnSpc>
            </a:pPr>
            <a:r>
              <a:rPr lang="en-US" sz="2418" dirty="0">
                <a:solidFill>
                  <a:srgbClr val="FFFFFF"/>
                </a:solidFill>
                <a:latin typeface="Montserrat"/>
                <a:ea typeface="Montserrat"/>
                <a:cs typeface="Montserrat"/>
                <a:sym typeface="Montserrat"/>
              </a:rPr>
              <a:t>NAIR SWAPNA SASIDHARAN(62)</a:t>
            </a:r>
          </a:p>
          <a:p>
            <a:pPr algn="l">
              <a:lnSpc>
                <a:spcPts val="3386"/>
              </a:lnSpc>
            </a:pPr>
            <a:r>
              <a:rPr lang="en-US" sz="2418" dirty="0">
                <a:solidFill>
                  <a:srgbClr val="FFFFFF"/>
                </a:solidFill>
                <a:latin typeface="Montserrat"/>
                <a:ea typeface="Montserrat"/>
                <a:cs typeface="Montserrat"/>
                <a:sym typeface="Montserrat"/>
              </a:rPr>
              <a:t>AKSHAYAPOOJA A P(14)</a:t>
            </a:r>
          </a:p>
          <a:p>
            <a:pPr algn="l">
              <a:lnSpc>
                <a:spcPts val="3386"/>
              </a:lnSpc>
              <a:spcBef>
                <a:spcPct val="0"/>
              </a:spcBef>
            </a:pPr>
            <a:r>
              <a:rPr lang="en-US" sz="2418" dirty="0">
                <a:solidFill>
                  <a:srgbClr val="FFFFFF"/>
                </a:solidFill>
                <a:latin typeface="Montserrat"/>
                <a:ea typeface="Montserrat"/>
                <a:cs typeface="Montserrat"/>
                <a:sym typeface="Montserrat"/>
              </a:rPr>
              <a:t>PARVATHY S NAIR(76)</a:t>
            </a:r>
          </a:p>
        </p:txBody>
      </p:sp>
      <p:sp>
        <p:nvSpPr>
          <p:cNvPr id="7" name="TextBox 7"/>
          <p:cNvSpPr txBox="1"/>
          <p:nvPr/>
        </p:nvSpPr>
        <p:spPr>
          <a:xfrm>
            <a:off x="13944041" y="8488156"/>
            <a:ext cx="4185967" cy="851321"/>
          </a:xfrm>
          <a:prstGeom prst="rect">
            <a:avLst/>
          </a:prstGeom>
        </p:spPr>
        <p:txBody>
          <a:bodyPr lIns="0" tIns="0" rIns="0" bIns="0" rtlCol="0" anchor="t">
            <a:spAutoFit/>
          </a:bodyPr>
          <a:lstStyle/>
          <a:p>
            <a:pPr algn="l">
              <a:lnSpc>
                <a:spcPts val="3476"/>
              </a:lnSpc>
            </a:pPr>
            <a:r>
              <a:rPr lang="en-US" sz="2483">
                <a:solidFill>
                  <a:srgbClr val="FFFFFF"/>
                </a:solidFill>
                <a:latin typeface="Montserrat"/>
                <a:ea typeface="Montserrat"/>
                <a:cs typeface="Montserrat"/>
                <a:sym typeface="Montserrat"/>
              </a:rPr>
              <a:t>GUIDE- </a:t>
            </a:r>
          </a:p>
          <a:p>
            <a:pPr algn="l">
              <a:lnSpc>
                <a:spcPts val="3476"/>
              </a:lnSpc>
              <a:spcBef>
                <a:spcPct val="0"/>
              </a:spcBef>
            </a:pPr>
            <a:r>
              <a:rPr lang="en-US" sz="2483">
                <a:solidFill>
                  <a:srgbClr val="FFFFFF"/>
                </a:solidFill>
                <a:latin typeface="Montserrat"/>
                <a:ea typeface="Montserrat"/>
                <a:cs typeface="Montserrat"/>
                <a:sym typeface="Montserrat"/>
              </a:rPr>
              <a:t>APARNA P 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E3D6"/>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69790"/>
            <a:ext cx="4232004" cy="1778530"/>
            <a:chOff x="0" y="0"/>
            <a:chExt cx="5642673" cy="2371373"/>
          </a:xfrm>
        </p:grpSpPr>
        <p:sp>
          <p:nvSpPr>
            <p:cNvPr id="3" name="TextBox 3"/>
            <p:cNvSpPr txBox="1"/>
            <p:nvPr/>
          </p:nvSpPr>
          <p:spPr>
            <a:xfrm>
              <a:off x="0" y="146228"/>
              <a:ext cx="5383645" cy="740833"/>
            </a:xfrm>
            <a:prstGeom prst="rect">
              <a:avLst/>
            </a:prstGeom>
          </p:spPr>
          <p:txBody>
            <a:bodyPr lIns="0" tIns="0" rIns="0" bIns="0" rtlCol="0" anchor="t">
              <a:spAutoFit/>
            </a:bodyPr>
            <a:lstStyle/>
            <a:p>
              <a:pPr algn="l">
                <a:lnSpc>
                  <a:spcPts val="4550"/>
                </a:lnSpc>
              </a:pPr>
              <a:r>
                <a:rPr lang="en-US" sz="3500">
                  <a:solidFill>
                    <a:srgbClr val="000000"/>
                  </a:solidFill>
                  <a:latin typeface="Montserrat Medium"/>
                  <a:ea typeface="Montserrat Medium"/>
                  <a:cs typeface="Montserrat Medium"/>
                  <a:sym typeface="Montserrat Medium"/>
                </a:rPr>
                <a:t>01</a:t>
              </a:r>
            </a:p>
          </p:txBody>
        </p:sp>
        <p:sp>
          <p:nvSpPr>
            <p:cNvPr id="4" name="TextBox 4"/>
            <p:cNvSpPr txBox="1"/>
            <p:nvPr/>
          </p:nvSpPr>
          <p:spPr>
            <a:xfrm>
              <a:off x="0" y="1028348"/>
              <a:ext cx="5383645" cy="1343025"/>
            </a:xfrm>
            <a:prstGeom prst="rect">
              <a:avLst/>
            </a:prstGeom>
          </p:spPr>
          <p:txBody>
            <a:bodyPr lIns="0" tIns="0" rIns="0" bIns="0" rtlCol="0" anchor="t">
              <a:spAutoFit/>
            </a:bodyPr>
            <a:lstStyle/>
            <a:p>
              <a:pPr algn="l">
                <a:lnSpc>
                  <a:spcPts val="4199"/>
                </a:lnSpc>
              </a:pPr>
              <a:r>
                <a:rPr lang="en-US" sz="2999">
                  <a:solidFill>
                    <a:srgbClr val="000000"/>
                  </a:solidFill>
                  <a:latin typeface="Montserrat"/>
                  <a:ea typeface="Montserrat"/>
                  <a:cs typeface="Montserrat"/>
                  <a:sym typeface="Montserrat"/>
                </a:rPr>
                <a:t>ABOUT OUR PROJECT</a:t>
              </a:r>
            </a:p>
          </p:txBody>
        </p:sp>
        <p:sp>
          <p:nvSpPr>
            <p:cNvPr id="5" name="AutoShape 5"/>
            <p:cNvSpPr/>
            <p:nvPr/>
          </p:nvSpPr>
          <p:spPr>
            <a:xfrm>
              <a:off x="0" y="6350"/>
              <a:ext cx="5642673" cy="0"/>
            </a:xfrm>
            <a:prstGeom prst="line">
              <a:avLst/>
            </a:prstGeom>
            <a:ln w="12700" cap="rnd">
              <a:solidFill>
                <a:srgbClr val="000000"/>
              </a:solidFill>
              <a:prstDash val="solid"/>
              <a:headEnd type="none" w="sm" len="sm"/>
              <a:tailEnd type="none" w="sm" len="sm"/>
            </a:ln>
          </p:spPr>
        </p:sp>
      </p:grpSp>
      <p:grpSp>
        <p:nvGrpSpPr>
          <p:cNvPr id="6" name="Group 6"/>
          <p:cNvGrpSpPr/>
          <p:nvPr/>
        </p:nvGrpSpPr>
        <p:grpSpPr>
          <a:xfrm>
            <a:off x="1028700" y="3993468"/>
            <a:ext cx="4232004" cy="2159349"/>
            <a:chOff x="0" y="0"/>
            <a:chExt cx="5642673" cy="2879132"/>
          </a:xfrm>
        </p:grpSpPr>
        <p:sp>
          <p:nvSpPr>
            <p:cNvPr id="7" name="TextBox 7"/>
            <p:cNvSpPr txBox="1"/>
            <p:nvPr/>
          </p:nvSpPr>
          <p:spPr>
            <a:xfrm>
              <a:off x="0" y="152865"/>
              <a:ext cx="5383645" cy="2726267"/>
            </a:xfrm>
            <a:prstGeom prst="rect">
              <a:avLst/>
            </a:prstGeom>
          </p:spPr>
          <p:txBody>
            <a:bodyPr lIns="0" tIns="0" rIns="0" bIns="0" rtlCol="0" anchor="t">
              <a:spAutoFit/>
            </a:bodyPr>
            <a:lstStyle/>
            <a:p>
              <a:pPr algn="l">
                <a:lnSpc>
                  <a:spcPts val="4550"/>
                </a:lnSpc>
              </a:pPr>
              <a:r>
                <a:rPr lang="en-US" sz="3500">
                  <a:solidFill>
                    <a:srgbClr val="000000"/>
                  </a:solidFill>
                  <a:latin typeface="Montserrat"/>
                  <a:ea typeface="Montserrat"/>
                  <a:cs typeface="Montserrat"/>
                  <a:sym typeface="Montserrat"/>
                </a:rPr>
                <a:t>04</a:t>
              </a:r>
            </a:p>
            <a:p>
              <a:pPr algn="l">
                <a:lnSpc>
                  <a:spcPts val="3900"/>
                </a:lnSpc>
              </a:pPr>
              <a:r>
                <a:rPr lang="en-US" sz="3000">
                  <a:solidFill>
                    <a:srgbClr val="000000"/>
                  </a:solidFill>
                  <a:latin typeface="Montserrat"/>
                  <a:ea typeface="Montserrat"/>
                  <a:cs typeface="Montserrat"/>
                  <a:sym typeface="Montserrat"/>
                </a:rPr>
                <a:t>HARDWARE AND SOFTWARE REQUIREMENTS</a:t>
              </a:r>
            </a:p>
          </p:txBody>
        </p:sp>
        <p:sp>
          <p:nvSpPr>
            <p:cNvPr id="8" name="AutoShape 8"/>
            <p:cNvSpPr/>
            <p:nvPr/>
          </p:nvSpPr>
          <p:spPr>
            <a:xfrm>
              <a:off x="0" y="6350"/>
              <a:ext cx="5642673" cy="0"/>
            </a:xfrm>
            <a:prstGeom prst="line">
              <a:avLst/>
            </a:prstGeom>
            <a:ln w="12700" cap="rnd">
              <a:solidFill>
                <a:srgbClr val="000000"/>
              </a:solidFill>
              <a:prstDash val="solid"/>
              <a:headEnd type="none" w="sm" len="sm"/>
              <a:tailEnd type="none" w="sm" len="sm"/>
            </a:ln>
          </p:spPr>
        </p:sp>
      </p:grpSp>
      <p:sp>
        <p:nvSpPr>
          <p:cNvPr id="9" name="AutoShape 9"/>
          <p:cNvSpPr/>
          <p:nvPr/>
        </p:nvSpPr>
        <p:spPr>
          <a:xfrm>
            <a:off x="5775121" y="865028"/>
            <a:ext cx="4232004" cy="0"/>
          </a:xfrm>
          <a:prstGeom prst="line">
            <a:avLst/>
          </a:prstGeom>
          <a:ln w="9525" cap="rnd">
            <a:solidFill>
              <a:srgbClr val="000000"/>
            </a:solidFill>
            <a:prstDash val="solid"/>
            <a:headEnd type="none" w="sm" len="sm"/>
            <a:tailEnd type="none" w="sm" len="sm"/>
          </a:ln>
        </p:spPr>
      </p:sp>
      <p:sp>
        <p:nvSpPr>
          <p:cNvPr id="10" name="AutoShape 10"/>
          <p:cNvSpPr/>
          <p:nvPr/>
        </p:nvSpPr>
        <p:spPr>
          <a:xfrm>
            <a:off x="10640695" y="874553"/>
            <a:ext cx="4232004" cy="0"/>
          </a:xfrm>
          <a:prstGeom prst="line">
            <a:avLst/>
          </a:prstGeom>
          <a:ln w="9525" cap="rnd">
            <a:solidFill>
              <a:srgbClr val="000000"/>
            </a:solidFill>
            <a:prstDash val="solid"/>
            <a:headEnd type="none" w="sm" len="sm"/>
            <a:tailEnd type="none" w="sm" len="sm"/>
          </a:ln>
        </p:spPr>
      </p:sp>
      <p:sp>
        <p:nvSpPr>
          <p:cNvPr id="11" name="AutoShape 11"/>
          <p:cNvSpPr/>
          <p:nvPr/>
        </p:nvSpPr>
        <p:spPr>
          <a:xfrm>
            <a:off x="5872256" y="3988705"/>
            <a:ext cx="4232004" cy="0"/>
          </a:xfrm>
          <a:prstGeom prst="line">
            <a:avLst/>
          </a:prstGeom>
          <a:ln w="9525" cap="rnd">
            <a:solidFill>
              <a:srgbClr val="000000"/>
            </a:solidFill>
            <a:prstDash val="solid"/>
            <a:headEnd type="none" w="sm" len="sm"/>
            <a:tailEnd type="none" w="sm" len="sm"/>
          </a:ln>
        </p:spPr>
      </p:sp>
      <p:sp>
        <p:nvSpPr>
          <p:cNvPr id="12" name="TextBox 12"/>
          <p:cNvSpPr txBox="1"/>
          <p:nvPr/>
        </p:nvSpPr>
        <p:spPr>
          <a:xfrm>
            <a:off x="5872256" y="979461"/>
            <a:ext cx="3446847" cy="1970604"/>
          </a:xfrm>
          <a:prstGeom prst="rect">
            <a:avLst/>
          </a:prstGeom>
        </p:spPr>
        <p:txBody>
          <a:bodyPr lIns="0" tIns="0" rIns="0" bIns="0" rtlCol="0" anchor="t">
            <a:spAutoFit/>
          </a:bodyPr>
          <a:lstStyle/>
          <a:p>
            <a:pPr algn="l">
              <a:lnSpc>
                <a:spcPts val="3900"/>
              </a:lnSpc>
            </a:pPr>
            <a:r>
              <a:rPr lang="en-US" sz="3000" dirty="0">
                <a:solidFill>
                  <a:srgbClr val="000000"/>
                </a:solidFill>
                <a:latin typeface="Montserrat Medium"/>
                <a:ea typeface="Montserrat Medium"/>
                <a:cs typeface="Montserrat Medium"/>
                <a:sym typeface="Montserrat Medium"/>
              </a:rPr>
              <a:t>02</a:t>
            </a:r>
          </a:p>
          <a:p>
            <a:pPr algn="l">
              <a:lnSpc>
                <a:spcPts val="3900"/>
              </a:lnSpc>
            </a:pPr>
            <a:r>
              <a:rPr lang="en-US" sz="3000" dirty="0">
                <a:solidFill>
                  <a:srgbClr val="000000"/>
                </a:solidFill>
                <a:latin typeface="Montserrat"/>
                <a:ea typeface="Montserrat"/>
                <a:cs typeface="Montserrat"/>
                <a:sym typeface="Montserrat"/>
              </a:rPr>
              <a:t>EXISTING SYSTEM AND THEIR DRAWBACKS</a:t>
            </a:r>
          </a:p>
        </p:txBody>
      </p:sp>
      <p:sp>
        <p:nvSpPr>
          <p:cNvPr id="13" name="TextBox 13"/>
          <p:cNvSpPr txBox="1"/>
          <p:nvPr/>
        </p:nvSpPr>
        <p:spPr>
          <a:xfrm>
            <a:off x="5872256" y="4098591"/>
            <a:ext cx="4037734" cy="1560235"/>
          </a:xfrm>
          <a:prstGeom prst="rect">
            <a:avLst/>
          </a:prstGeom>
        </p:spPr>
        <p:txBody>
          <a:bodyPr lIns="0" tIns="0" rIns="0" bIns="0" rtlCol="0" anchor="t">
            <a:spAutoFit/>
          </a:bodyPr>
          <a:lstStyle/>
          <a:p>
            <a:pPr algn="l">
              <a:lnSpc>
                <a:spcPts val="4550"/>
              </a:lnSpc>
            </a:pPr>
            <a:r>
              <a:rPr lang="en-US" sz="3500" dirty="0">
                <a:solidFill>
                  <a:srgbClr val="000000"/>
                </a:solidFill>
                <a:latin typeface="Montserrat"/>
                <a:ea typeface="Montserrat"/>
                <a:cs typeface="Montserrat"/>
                <a:sym typeface="Montserrat"/>
              </a:rPr>
              <a:t>05</a:t>
            </a:r>
          </a:p>
          <a:p>
            <a:pPr algn="l">
              <a:lnSpc>
                <a:spcPts val="3900"/>
              </a:lnSpc>
            </a:pPr>
            <a:r>
              <a:rPr lang="en-US" sz="3000" dirty="0">
                <a:solidFill>
                  <a:srgbClr val="000000"/>
                </a:solidFill>
                <a:latin typeface="Montserrat"/>
                <a:ea typeface="Montserrat"/>
                <a:cs typeface="Montserrat"/>
                <a:sym typeface="Montserrat"/>
              </a:rPr>
              <a:t>ER DIAGRAM,DFD AND TABLE DESIGN</a:t>
            </a:r>
          </a:p>
        </p:txBody>
      </p:sp>
      <p:sp>
        <p:nvSpPr>
          <p:cNvPr id="14" name="TextBox 14"/>
          <p:cNvSpPr txBox="1"/>
          <p:nvPr/>
        </p:nvSpPr>
        <p:spPr>
          <a:xfrm>
            <a:off x="10640695" y="969936"/>
            <a:ext cx="4294506" cy="2060372"/>
          </a:xfrm>
          <a:prstGeom prst="rect">
            <a:avLst/>
          </a:prstGeom>
        </p:spPr>
        <p:txBody>
          <a:bodyPr wrap="square" lIns="0" tIns="0" rIns="0" bIns="0" rtlCol="0" anchor="t">
            <a:spAutoFit/>
          </a:bodyPr>
          <a:lstStyle/>
          <a:p>
            <a:pPr algn="l">
              <a:lnSpc>
                <a:spcPts val="4550"/>
              </a:lnSpc>
            </a:pPr>
            <a:r>
              <a:rPr lang="en-US" sz="3500" dirty="0">
                <a:solidFill>
                  <a:srgbClr val="000000"/>
                </a:solidFill>
                <a:latin typeface="Montserrat"/>
                <a:ea typeface="Montserrat"/>
                <a:cs typeface="Montserrat"/>
                <a:sym typeface="Montserrat"/>
              </a:rPr>
              <a:t>03</a:t>
            </a:r>
          </a:p>
          <a:p>
            <a:pPr algn="l">
              <a:lnSpc>
                <a:spcPts val="3900"/>
              </a:lnSpc>
            </a:pPr>
            <a:r>
              <a:rPr lang="en-US" sz="3000" dirty="0">
                <a:solidFill>
                  <a:srgbClr val="000000"/>
                </a:solidFill>
                <a:latin typeface="Montserrat"/>
                <a:ea typeface="Montserrat"/>
                <a:cs typeface="Montserrat"/>
                <a:sym typeface="Montserrat"/>
              </a:rPr>
              <a:t>OUR SYSTEM ,ITS MERITS AND MODULES</a:t>
            </a:r>
          </a:p>
        </p:txBody>
      </p:sp>
      <p:sp>
        <p:nvSpPr>
          <p:cNvPr id="15" name="TextBox 15"/>
          <p:cNvSpPr txBox="1"/>
          <p:nvPr/>
        </p:nvSpPr>
        <p:spPr>
          <a:xfrm>
            <a:off x="9319103" y="7191686"/>
            <a:ext cx="7604823" cy="1882368"/>
          </a:xfrm>
          <a:prstGeom prst="rect">
            <a:avLst/>
          </a:prstGeom>
        </p:spPr>
        <p:txBody>
          <a:bodyPr lIns="0" tIns="0" rIns="0" bIns="0" rtlCol="0" anchor="t">
            <a:spAutoFit/>
          </a:bodyPr>
          <a:lstStyle/>
          <a:p>
            <a:pPr algn="ctr">
              <a:lnSpc>
                <a:spcPts val="15263"/>
              </a:lnSpc>
              <a:spcBef>
                <a:spcPct val="0"/>
              </a:spcBef>
            </a:pPr>
            <a:r>
              <a:rPr lang="en-US" sz="11741">
                <a:solidFill>
                  <a:srgbClr val="000000"/>
                </a:solidFill>
                <a:latin typeface="Montserrat Bold"/>
                <a:ea typeface="Montserrat Bold"/>
                <a:cs typeface="Montserrat Bold"/>
                <a:sym typeface="Montserrat Bold"/>
              </a:rPr>
              <a:t>CONTENT</a:t>
            </a:r>
          </a:p>
        </p:txBody>
      </p:sp>
      <p:sp>
        <p:nvSpPr>
          <p:cNvPr id="16" name="AutoShape 16"/>
          <p:cNvSpPr/>
          <p:nvPr/>
        </p:nvSpPr>
        <p:spPr>
          <a:xfrm flipV="1">
            <a:off x="10640695" y="7286936"/>
            <a:ext cx="6283232" cy="19050"/>
          </a:xfrm>
          <a:prstGeom prst="line">
            <a:avLst/>
          </a:prstGeom>
          <a:ln w="38100" cap="flat">
            <a:solidFill>
              <a:srgbClr val="000000"/>
            </a:solidFill>
            <a:prstDash val="solid"/>
            <a:headEnd type="none" w="sm" len="sm"/>
            <a:tailEnd type="none" w="sm" len="sm"/>
          </a:ln>
        </p:spPr>
      </p:sp>
      <p:sp>
        <p:nvSpPr>
          <p:cNvPr id="17" name="AutoShape 17"/>
          <p:cNvSpPr/>
          <p:nvPr/>
        </p:nvSpPr>
        <p:spPr>
          <a:xfrm>
            <a:off x="10640695" y="3998230"/>
            <a:ext cx="4232004" cy="0"/>
          </a:xfrm>
          <a:prstGeom prst="line">
            <a:avLst/>
          </a:prstGeom>
          <a:ln w="9525" cap="rnd">
            <a:solidFill>
              <a:srgbClr val="000000"/>
            </a:solidFill>
            <a:prstDash val="solid"/>
            <a:headEnd type="none" w="sm" len="sm"/>
            <a:tailEnd type="none" w="sm" len="sm"/>
          </a:ln>
        </p:spPr>
      </p:sp>
      <p:sp>
        <p:nvSpPr>
          <p:cNvPr id="18" name="TextBox 18"/>
          <p:cNvSpPr txBox="1"/>
          <p:nvPr/>
        </p:nvSpPr>
        <p:spPr>
          <a:xfrm>
            <a:off x="10754735" y="4163679"/>
            <a:ext cx="3809653" cy="981075"/>
          </a:xfrm>
          <a:prstGeom prst="rect">
            <a:avLst/>
          </a:prstGeom>
        </p:spPr>
        <p:txBody>
          <a:bodyPr lIns="0" tIns="0" rIns="0" bIns="0" rtlCol="0" anchor="t">
            <a:spAutoFit/>
          </a:bodyPr>
          <a:lstStyle/>
          <a:p>
            <a:pPr algn="l">
              <a:lnSpc>
                <a:spcPts val="3900"/>
              </a:lnSpc>
            </a:pPr>
            <a:r>
              <a:rPr lang="en-US" sz="3000">
                <a:solidFill>
                  <a:srgbClr val="000000"/>
                </a:solidFill>
                <a:latin typeface="Montserrat"/>
                <a:ea typeface="Montserrat"/>
                <a:cs typeface="Montserrat"/>
                <a:sym typeface="Montserrat"/>
              </a:rPr>
              <a:t>06</a:t>
            </a:r>
          </a:p>
          <a:p>
            <a:pPr algn="l">
              <a:lnSpc>
                <a:spcPts val="3900"/>
              </a:lnSpc>
              <a:spcBef>
                <a:spcPct val="0"/>
              </a:spcBef>
            </a:pPr>
            <a:r>
              <a:rPr lang="en-US" sz="3000">
                <a:solidFill>
                  <a:srgbClr val="000000"/>
                </a:solidFill>
                <a:latin typeface="Montserrat"/>
                <a:ea typeface="Montserrat"/>
                <a:cs typeface="Montserrat"/>
                <a:sym typeface="Montserrat"/>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F806E"/>
        </a:solidFill>
        <a:effectLst/>
      </p:bgPr>
    </p:bg>
    <p:spTree>
      <p:nvGrpSpPr>
        <p:cNvPr id="1" name=""/>
        <p:cNvGrpSpPr/>
        <p:nvPr/>
      </p:nvGrpSpPr>
      <p:grpSpPr>
        <a:xfrm>
          <a:off x="0" y="0"/>
          <a:ext cx="0" cy="0"/>
          <a:chOff x="0" y="0"/>
          <a:chExt cx="0" cy="0"/>
        </a:xfrm>
      </p:grpSpPr>
      <p:grpSp>
        <p:nvGrpSpPr>
          <p:cNvPr id="2" name="Group 2"/>
          <p:cNvGrpSpPr/>
          <p:nvPr/>
        </p:nvGrpSpPr>
        <p:grpSpPr>
          <a:xfrm>
            <a:off x="5166" y="0"/>
            <a:ext cx="18288000" cy="10497690"/>
            <a:chOff x="0" y="0"/>
            <a:chExt cx="24384000" cy="13996919"/>
          </a:xfrm>
        </p:grpSpPr>
        <p:pic>
          <p:nvPicPr>
            <p:cNvPr id="3" name="Picture 3"/>
            <p:cNvPicPr>
              <a:picLocks noChangeAspect="1"/>
            </p:cNvPicPr>
            <p:nvPr/>
          </p:nvPicPr>
          <p:blipFill>
            <a:blip r:embed="rId2">
              <a:alphaModFix amt="44999"/>
            </a:blip>
            <a:srcRect l="1118" r="1118"/>
            <a:stretch>
              <a:fillRect/>
            </a:stretch>
          </p:blipFill>
          <p:spPr>
            <a:xfrm>
              <a:off x="0" y="0"/>
              <a:ext cx="24384000" cy="13996919"/>
            </a:xfrm>
            <a:prstGeom prst="rect">
              <a:avLst/>
            </a:prstGeom>
          </p:spPr>
        </p:pic>
      </p:grpSp>
      <p:sp>
        <p:nvSpPr>
          <p:cNvPr id="4" name="TextBox 4"/>
          <p:cNvSpPr txBox="1"/>
          <p:nvPr/>
        </p:nvSpPr>
        <p:spPr>
          <a:xfrm>
            <a:off x="353132" y="5229795"/>
            <a:ext cx="10286106" cy="3415030"/>
          </a:xfrm>
          <a:prstGeom prst="rect">
            <a:avLst/>
          </a:prstGeom>
        </p:spPr>
        <p:txBody>
          <a:bodyPr lIns="0" tIns="0" rIns="0" bIns="0" rtlCol="0" anchor="t">
            <a:spAutoFit/>
          </a:bodyPr>
          <a:lstStyle/>
          <a:p>
            <a:pPr algn="l">
              <a:lnSpc>
                <a:spcPts val="3379"/>
              </a:lnSpc>
            </a:pPr>
            <a:r>
              <a:rPr lang="en-US" sz="2599">
                <a:solidFill>
                  <a:srgbClr val="FFFFFF"/>
                </a:solidFill>
                <a:latin typeface="Montserrat"/>
                <a:ea typeface="Montserrat"/>
                <a:cs typeface="Montserrat"/>
                <a:sym typeface="Montserrat"/>
              </a:rPr>
              <a:t>Managing an orphanage or elder care facility can be incredibly challenging,especially when it comes to keeping track of resources, maintaining accurate records, and ensuring the residents' well-being. By developing this management system, we’re looking to offer a unified platform that makes data storage, analysis, and reporting more efficient and effective. </a:t>
            </a:r>
          </a:p>
          <a:p>
            <a:pPr algn="l">
              <a:lnSpc>
                <a:spcPts val="3379"/>
              </a:lnSpc>
            </a:pPr>
            <a:endParaRPr lang="en-US" sz="2599">
              <a:solidFill>
                <a:srgbClr val="FFFFFF"/>
              </a:solidFill>
              <a:latin typeface="Montserrat"/>
              <a:ea typeface="Montserrat"/>
              <a:cs typeface="Montserrat"/>
              <a:sym typeface="Montserrat"/>
            </a:endParaRPr>
          </a:p>
        </p:txBody>
      </p:sp>
      <p:sp>
        <p:nvSpPr>
          <p:cNvPr id="5" name="TextBox 5"/>
          <p:cNvSpPr txBox="1"/>
          <p:nvPr/>
        </p:nvSpPr>
        <p:spPr>
          <a:xfrm>
            <a:off x="353132" y="860359"/>
            <a:ext cx="10936628" cy="1133475"/>
          </a:xfrm>
          <a:prstGeom prst="rect">
            <a:avLst/>
          </a:prstGeom>
        </p:spPr>
        <p:txBody>
          <a:bodyPr lIns="0" tIns="0" rIns="0" bIns="0" rtlCol="0" anchor="t">
            <a:spAutoFit/>
          </a:bodyPr>
          <a:lstStyle/>
          <a:p>
            <a:pPr algn="l">
              <a:lnSpc>
                <a:spcPts val="8999"/>
              </a:lnSpc>
            </a:pPr>
            <a:r>
              <a:rPr lang="en-US" sz="7499">
                <a:solidFill>
                  <a:srgbClr val="FFFFFF"/>
                </a:solidFill>
                <a:latin typeface="Montserrat Semi-Bold"/>
                <a:ea typeface="Montserrat Semi-Bold"/>
                <a:cs typeface="Montserrat Semi-Bold"/>
                <a:sym typeface="Montserrat Semi-Bold"/>
              </a:rPr>
              <a:t>ABOUT OUR PROJECT</a:t>
            </a:r>
          </a:p>
        </p:txBody>
      </p:sp>
      <p:sp>
        <p:nvSpPr>
          <p:cNvPr id="6" name="TextBox 6"/>
          <p:cNvSpPr txBox="1"/>
          <p:nvPr/>
        </p:nvSpPr>
        <p:spPr>
          <a:xfrm>
            <a:off x="353132" y="2349249"/>
            <a:ext cx="10726206" cy="2724785"/>
          </a:xfrm>
          <a:prstGeom prst="rect">
            <a:avLst/>
          </a:prstGeom>
        </p:spPr>
        <p:txBody>
          <a:bodyPr lIns="0" tIns="0" rIns="0" bIns="0" rtlCol="0" anchor="t">
            <a:spAutoFit/>
          </a:bodyPr>
          <a:lstStyle/>
          <a:p>
            <a:pPr algn="l">
              <a:lnSpc>
                <a:spcPts val="3639"/>
              </a:lnSpc>
              <a:spcBef>
                <a:spcPct val="0"/>
              </a:spcBef>
            </a:pPr>
            <a:r>
              <a:rPr lang="en-US" sz="2599">
                <a:solidFill>
                  <a:srgbClr val="FFFFFF"/>
                </a:solidFill>
                <a:latin typeface="Montserrat"/>
                <a:ea typeface="Montserrat"/>
                <a:cs typeface="Montserrat"/>
                <a:sym typeface="Montserrat"/>
              </a:rPr>
              <a:t>This project aimed at creating a user-friendly software system that will help manage the day-to-day operations of an orphanage and elder care facility. This system will simplify how the facility handles everything from resident records ,donations informations to medical and educational records of the residents.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14964"/>
        </a:solidFill>
        <a:effectLst/>
      </p:bgPr>
    </p:bg>
    <p:spTree>
      <p:nvGrpSpPr>
        <p:cNvPr id="1" name=""/>
        <p:cNvGrpSpPr/>
        <p:nvPr/>
      </p:nvGrpSpPr>
      <p:grpSpPr>
        <a:xfrm>
          <a:off x="0" y="0"/>
          <a:ext cx="0" cy="0"/>
          <a:chOff x="0" y="0"/>
          <a:chExt cx="0" cy="0"/>
        </a:xfrm>
      </p:grpSpPr>
      <p:sp>
        <p:nvSpPr>
          <p:cNvPr id="2" name="TextBox 2"/>
          <p:cNvSpPr txBox="1"/>
          <p:nvPr/>
        </p:nvSpPr>
        <p:spPr>
          <a:xfrm>
            <a:off x="823320" y="572900"/>
            <a:ext cx="11301477" cy="1794624"/>
          </a:xfrm>
          <a:prstGeom prst="rect">
            <a:avLst/>
          </a:prstGeom>
        </p:spPr>
        <p:txBody>
          <a:bodyPr lIns="0" tIns="0" rIns="0" bIns="0" rtlCol="0" anchor="t">
            <a:spAutoFit/>
          </a:bodyPr>
          <a:lstStyle/>
          <a:p>
            <a:pPr algn="l">
              <a:lnSpc>
                <a:spcPts val="7048"/>
              </a:lnSpc>
            </a:pPr>
            <a:r>
              <a:rPr lang="en-US" sz="5873">
                <a:solidFill>
                  <a:srgbClr val="FFFFFF"/>
                </a:solidFill>
                <a:latin typeface="Montserrat"/>
                <a:ea typeface="Montserrat"/>
                <a:cs typeface="Montserrat"/>
                <a:sym typeface="Montserrat"/>
              </a:rPr>
              <a:t>DRAWBACKS OF THE EXISTING SYSTEM</a:t>
            </a:r>
          </a:p>
        </p:txBody>
      </p:sp>
      <p:sp>
        <p:nvSpPr>
          <p:cNvPr id="3" name="TextBox 3"/>
          <p:cNvSpPr txBox="1"/>
          <p:nvPr/>
        </p:nvSpPr>
        <p:spPr>
          <a:xfrm>
            <a:off x="823320" y="2725324"/>
            <a:ext cx="13916337" cy="2114550"/>
          </a:xfrm>
          <a:prstGeom prst="rect">
            <a:avLst/>
          </a:prstGeom>
        </p:spPr>
        <p:txBody>
          <a:bodyPr lIns="0" tIns="0" rIns="0" bIns="0" rtlCol="0" anchor="t">
            <a:spAutoFit/>
          </a:bodyPr>
          <a:lstStyle/>
          <a:p>
            <a:pPr algn="just">
              <a:lnSpc>
                <a:spcPts val="4200"/>
              </a:lnSpc>
              <a:spcBef>
                <a:spcPct val="0"/>
              </a:spcBef>
            </a:pPr>
            <a:r>
              <a:rPr lang="en-US" sz="3000">
                <a:solidFill>
                  <a:srgbClr val="FFFFFF"/>
                </a:solidFill>
                <a:latin typeface="Montserrat"/>
                <a:ea typeface="Montserrat"/>
                <a:cs typeface="Montserrat"/>
                <a:sym typeface="Montserrat"/>
              </a:rPr>
              <a:t>In India, most of the orphanages and elder care facilities still manage there records manually but there are few existing websites for these facilities which lack many functionality making them non user friendly and inefficient.  Some of the drawbacks are :</a:t>
            </a:r>
          </a:p>
        </p:txBody>
      </p:sp>
      <p:sp>
        <p:nvSpPr>
          <p:cNvPr id="4" name="AutoShape 4"/>
          <p:cNvSpPr/>
          <p:nvPr/>
        </p:nvSpPr>
        <p:spPr>
          <a:xfrm>
            <a:off x="1028700" y="8693642"/>
            <a:ext cx="16192500" cy="0"/>
          </a:xfrm>
          <a:prstGeom prst="line">
            <a:avLst/>
          </a:prstGeom>
          <a:ln w="38100" cap="flat">
            <a:solidFill>
              <a:srgbClr val="FFFFFF"/>
            </a:solidFill>
            <a:prstDash val="solid"/>
            <a:headEnd type="none" w="sm" len="sm"/>
            <a:tailEnd type="none" w="sm" len="sm"/>
          </a:ln>
        </p:spPr>
      </p:sp>
      <p:sp>
        <p:nvSpPr>
          <p:cNvPr id="5" name="AutoShape 5"/>
          <p:cNvSpPr/>
          <p:nvPr/>
        </p:nvSpPr>
        <p:spPr>
          <a:xfrm flipV="1">
            <a:off x="17221200" y="1028753"/>
            <a:ext cx="19050" cy="6843877"/>
          </a:xfrm>
          <a:prstGeom prst="line">
            <a:avLst/>
          </a:prstGeom>
          <a:ln w="38100" cap="flat">
            <a:solidFill>
              <a:srgbClr val="FFFFFF"/>
            </a:solidFill>
            <a:prstDash val="solid"/>
            <a:headEnd type="none" w="sm" len="sm"/>
            <a:tailEnd type="none" w="sm" len="sm"/>
          </a:ln>
        </p:spPr>
      </p:sp>
      <p:sp>
        <p:nvSpPr>
          <p:cNvPr id="6" name="TextBox 6"/>
          <p:cNvSpPr txBox="1"/>
          <p:nvPr/>
        </p:nvSpPr>
        <p:spPr>
          <a:xfrm>
            <a:off x="2209986" y="5076825"/>
            <a:ext cx="7559946" cy="2779800"/>
          </a:xfrm>
          <a:prstGeom prst="rect">
            <a:avLst/>
          </a:prstGeom>
        </p:spPr>
        <p:txBody>
          <a:bodyPr lIns="0" tIns="0" rIns="0" bIns="0" rtlCol="0" anchor="t">
            <a:spAutoFit/>
          </a:bodyPr>
          <a:lstStyle/>
          <a:p>
            <a:pPr algn="just">
              <a:lnSpc>
                <a:spcPts val="4401"/>
              </a:lnSpc>
            </a:pPr>
            <a:r>
              <a:rPr lang="en-US" sz="3143" dirty="0">
                <a:solidFill>
                  <a:srgbClr val="FFFFFF"/>
                </a:solidFill>
                <a:latin typeface="Montserrat Bold"/>
                <a:ea typeface="Montserrat Bold"/>
                <a:cs typeface="Montserrat Bold"/>
                <a:sym typeface="Montserrat Bold"/>
              </a:rPr>
              <a:t>. Manual Record Keeping</a:t>
            </a:r>
            <a:endParaRPr lang="en-US" sz="3143" dirty="0">
              <a:solidFill>
                <a:srgbClr val="FFFFFF"/>
              </a:solidFill>
              <a:latin typeface="Montserrat"/>
              <a:ea typeface="Montserrat"/>
              <a:cs typeface="Montserrat"/>
              <a:sym typeface="Montserrat"/>
            </a:endParaRPr>
          </a:p>
          <a:p>
            <a:pPr algn="just">
              <a:lnSpc>
                <a:spcPts val="4401"/>
              </a:lnSpc>
            </a:pPr>
            <a:r>
              <a:rPr lang="en-US" sz="3143" dirty="0">
                <a:solidFill>
                  <a:srgbClr val="FFFFFF"/>
                </a:solidFill>
                <a:latin typeface="Montserrat Bold"/>
                <a:ea typeface="Montserrat Bold"/>
                <a:cs typeface="Montserrat Bold"/>
                <a:sym typeface="Montserrat Bold"/>
              </a:rPr>
              <a:t>. Inefficiency and Errors</a:t>
            </a:r>
          </a:p>
          <a:p>
            <a:pPr algn="just">
              <a:lnSpc>
                <a:spcPts val="4401"/>
              </a:lnSpc>
            </a:pPr>
            <a:r>
              <a:rPr lang="en-US" sz="3143" dirty="0">
                <a:solidFill>
                  <a:srgbClr val="FFFFFF"/>
                </a:solidFill>
                <a:latin typeface="Montserrat Bold"/>
                <a:ea typeface="Montserrat Bold"/>
                <a:cs typeface="Montserrat Bold"/>
                <a:sym typeface="Montserrat Bold"/>
              </a:rPr>
              <a:t>. Data Analysis Difficulties</a:t>
            </a:r>
          </a:p>
          <a:p>
            <a:pPr algn="just">
              <a:lnSpc>
                <a:spcPts val="4401"/>
              </a:lnSpc>
            </a:pPr>
            <a:r>
              <a:rPr lang="en-US" sz="3143" dirty="0">
                <a:solidFill>
                  <a:srgbClr val="FFFFFF"/>
                </a:solidFill>
                <a:latin typeface="Montserrat Bold"/>
                <a:ea typeface="Montserrat Bold"/>
                <a:cs typeface="Montserrat Bold"/>
                <a:sym typeface="Montserrat Bold"/>
              </a:rPr>
              <a:t>. Lack of Empathy</a:t>
            </a:r>
          </a:p>
          <a:p>
            <a:pPr algn="just">
              <a:lnSpc>
                <a:spcPts val="4401"/>
              </a:lnSpc>
              <a:spcBef>
                <a:spcPct val="0"/>
              </a:spcBef>
            </a:pPr>
            <a:r>
              <a:rPr lang="en-US" sz="3143" dirty="0">
                <a:solidFill>
                  <a:srgbClr val="FFFFFF"/>
                </a:solidFill>
                <a:latin typeface="Montserrat Bold"/>
                <a:ea typeface="Montserrat Bold"/>
                <a:cs typeface="Montserrat Bold"/>
                <a:sym typeface="Montserrat Bold"/>
              </a:rPr>
              <a:t>. Lack of Scalability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E3D6"/>
        </a:solidFill>
        <a:effectLst/>
      </p:bgPr>
    </p:bg>
    <p:spTree>
      <p:nvGrpSpPr>
        <p:cNvPr id="1" name=""/>
        <p:cNvGrpSpPr/>
        <p:nvPr/>
      </p:nvGrpSpPr>
      <p:grpSpPr>
        <a:xfrm>
          <a:off x="0" y="0"/>
          <a:ext cx="0" cy="0"/>
          <a:chOff x="0" y="0"/>
          <a:chExt cx="0" cy="0"/>
        </a:xfrm>
      </p:grpSpPr>
      <p:sp>
        <p:nvSpPr>
          <p:cNvPr id="2" name="TextBox 2"/>
          <p:cNvSpPr txBox="1"/>
          <p:nvPr/>
        </p:nvSpPr>
        <p:spPr>
          <a:xfrm>
            <a:off x="418622" y="2813022"/>
            <a:ext cx="9310275" cy="3657600"/>
          </a:xfrm>
          <a:prstGeom prst="rect">
            <a:avLst/>
          </a:prstGeom>
        </p:spPr>
        <p:txBody>
          <a:bodyPr lIns="0" tIns="0" rIns="0" bIns="0" rtlCol="0" anchor="t">
            <a:spAutoFit/>
          </a:bodyPr>
          <a:lstStyle/>
          <a:p>
            <a:pPr algn="l">
              <a:lnSpc>
                <a:spcPts val="9602"/>
              </a:lnSpc>
            </a:pPr>
            <a:r>
              <a:rPr lang="en-US" sz="8001">
                <a:solidFill>
                  <a:srgbClr val="000000"/>
                </a:solidFill>
                <a:latin typeface="Montserrat Semi-Bold"/>
                <a:ea typeface="Montserrat Semi-Bold"/>
                <a:cs typeface="Montserrat Semi-Bold"/>
                <a:sym typeface="Montserrat Semi-Bold"/>
              </a:rPr>
              <a:t>PROPOSED SYSTEM AND ITS MERITS</a:t>
            </a:r>
          </a:p>
        </p:txBody>
      </p:sp>
      <p:sp>
        <p:nvSpPr>
          <p:cNvPr id="3" name="AutoShape 3"/>
          <p:cNvSpPr/>
          <p:nvPr/>
        </p:nvSpPr>
        <p:spPr>
          <a:xfrm>
            <a:off x="9665018" y="2638534"/>
            <a:ext cx="7033024" cy="0"/>
          </a:xfrm>
          <a:prstGeom prst="line">
            <a:avLst/>
          </a:prstGeom>
          <a:ln w="9525" cap="rnd">
            <a:solidFill>
              <a:srgbClr val="000000"/>
            </a:solidFill>
            <a:prstDash val="solid"/>
            <a:headEnd type="none" w="sm" len="sm"/>
            <a:tailEnd type="none" w="sm" len="sm"/>
          </a:ln>
        </p:spPr>
      </p:sp>
      <p:sp>
        <p:nvSpPr>
          <p:cNvPr id="4" name="AutoShape 4"/>
          <p:cNvSpPr/>
          <p:nvPr/>
        </p:nvSpPr>
        <p:spPr>
          <a:xfrm>
            <a:off x="9665018" y="4001239"/>
            <a:ext cx="7033024" cy="0"/>
          </a:xfrm>
          <a:prstGeom prst="line">
            <a:avLst/>
          </a:prstGeom>
          <a:ln w="9525" cap="rnd">
            <a:solidFill>
              <a:srgbClr val="000000"/>
            </a:solidFill>
            <a:prstDash val="solid"/>
            <a:headEnd type="none" w="sm" len="sm"/>
            <a:tailEnd type="none" w="sm" len="sm"/>
          </a:ln>
        </p:spPr>
      </p:sp>
      <p:sp>
        <p:nvSpPr>
          <p:cNvPr id="5" name="TextBox 5"/>
          <p:cNvSpPr txBox="1"/>
          <p:nvPr/>
        </p:nvSpPr>
        <p:spPr>
          <a:xfrm>
            <a:off x="9728897" y="422168"/>
            <a:ext cx="8046927" cy="2221128"/>
          </a:xfrm>
          <a:prstGeom prst="rect">
            <a:avLst/>
          </a:prstGeom>
        </p:spPr>
        <p:txBody>
          <a:bodyPr lIns="0" tIns="0" rIns="0" bIns="0" rtlCol="0" anchor="t">
            <a:spAutoFit/>
          </a:bodyPr>
          <a:lstStyle/>
          <a:p>
            <a:pPr algn="l">
              <a:lnSpc>
                <a:spcPts val="3575"/>
              </a:lnSpc>
            </a:pPr>
            <a:r>
              <a:rPr lang="en-US" sz="2554">
                <a:solidFill>
                  <a:srgbClr val="000000"/>
                </a:solidFill>
                <a:latin typeface="Montserrat Bold"/>
                <a:ea typeface="Montserrat Bold"/>
                <a:cs typeface="Montserrat Bold"/>
                <a:sym typeface="Montserrat Bold"/>
              </a:rPr>
              <a:t>The proposed system will leverage modern technologies to automate various processes, improve data accuracy, and enhance overall operational efficiency. Key benefits include: </a:t>
            </a:r>
          </a:p>
          <a:p>
            <a:pPr algn="l">
              <a:lnSpc>
                <a:spcPts val="3575"/>
              </a:lnSpc>
              <a:spcBef>
                <a:spcPct val="0"/>
              </a:spcBef>
            </a:pPr>
            <a:endParaRPr lang="en-US" sz="2554">
              <a:solidFill>
                <a:srgbClr val="000000"/>
              </a:solidFill>
              <a:latin typeface="Montserrat Bold"/>
              <a:ea typeface="Montserrat Bold"/>
              <a:cs typeface="Montserrat Bold"/>
              <a:sym typeface="Montserrat Bold"/>
            </a:endParaRPr>
          </a:p>
        </p:txBody>
      </p:sp>
      <p:sp>
        <p:nvSpPr>
          <p:cNvPr id="6" name="TextBox 6"/>
          <p:cNvSpPr txBox="1"/>
          <p:nvPr/>
        </p:nvSpPr>
        <p:spPr>
          <a:xfrm>
            <a:off x="9728897" y="2810497"/>
            <a:ext cx="7817407" cy="1581150"/>
          </a:xfrm>
          <a:prstGeom prst="rect">
            <a:avLst/>
          </a:prstGeom>
        </p:spPr>
        <p:txBody>
          <a:bodyPr lIns="0" tIns="0" rIns="0" bIns="0" rtlCol="0" anchor="t">
            <a:spAutoFit/>
          </a:bodyPr>
          <a:lstStyle/>
          <a:p>
            <a:pPr algn="l">
              <a:lnSpc>
                <a:spcPts val="4200"/>
              </a:lnSpc>
            </a:pPr>
            <a:r>
              <a:rPr lang="en-US" sz="3000">
                <a:solidFill>
                  <a:srgbClr val="000000"/>
                </a:solidFill>
                <a:latin typeface="Montserrat Bold"/>
                <a:ea typeface="Montserrat Bold"/>
                <a:cs typeface="Montserrat Bold"/>
                <a:sym typeface="Montserrat Bold"/>
              </a:rPr>
              <a:t>. </a:t>
            </a:r>
            <a:r>
              <a:rPr lang="en-US" sz="3000">
                <a:solidFill>
                  <a:srgbClr val="000000"/>
                </a:solidFill>
                <a:latin typeface="Montserrat"/>
                <a:ea typeface="Montserrat"/>
                <a:cs typeface="Montserrat"/>
                <a:sym typeface="Montserrat"/>
              </a:rPr>
              <a:t>Centralized database for easy access to all information </a:t>
            </a:r>
          </a:p>
          <a:p>
            <a:pPr algn="l">
              <a:lnSpc>
                <a:spcPts val="4200"/>
              </a:lnSpc>
              <a:spcBef>
                <a:spcPct val="0"/>
              </a:spcBef>
            </a:pPr>
            <a:endParaRPr lang="en-US" sz="3000">
              <a:solidFill>
                <a:srgbClr val="000000"/>
              </a:solidFill>
              <a:latin typeface="Montserrat"/>
              <a:ea typeface="Montserrat"/>
              <a:cs typeface="Montserrat"/>
              <a:sym typeface="Montserrat"/>
            </a:endParaRPr>
          </a:p>
        </p:txBody>
      </p:sp>
      <p:sp>
        <p:nvSpPr>
          <p:cNvPr id="7" name="TextBox 7"/>
          <p:cNvSpPr txBox="1"/>
          <p:nvPr/>
        </p:nvSpPr>
        <p:spPr>
          <a:xfrm>
            <a:off x="9665018" y="4095750"/>
            <a:ext cx="7594282" cy="10477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Bold"/>
                <a:ea typeface="Montserrat Bold"/>
                <a:cs typeface="Montserrat Bold"/>
                <a:sym typeface="Montserrat Bold"/>
              </a:rPr>
              <a:t>. </a:t>
            </a:r>
            <a:r>
              <a:rPr lang="en-US" sz="3000">
                <a:solidFill>
                  <a:srgbClr val="000000"/>
                </a:solidFill>
                <a:latin typeface="Montserrat"/>
                <a:ea typeface="Montserrat"/>
                <a:cs typeface="Montserrat"/>
                <a:sym typeface="Montserrat"/>
              </a:rPr>
              <a:t>Automated task management and scheduling </a:t>
            </a:r>
          </a:p>
        </p:txBody>
      </p:sp>
      <p:sp>
        <p:nvSpPr>
          <p:cNvPr id="8" name="TextBox 8"/>
          <p:cNvSpPr txBox="1"/>
          <p:nvPr/>
        </p:nvSpPr>
        <p:spPr>
          <a:xfrm>
            <a:off x="9728897" y="5410822"/>
            <a:ext cx="7033024" cy="514350"/>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Montserrat Bold"/>
                <a:ea typeface="Montserrat Bold"/>
                <a:cs typeface="Montserrat Bold"/>
                <a:sym typeface="Montserrat Bold"/>
              </a:rPr>
              <a:t>. </a:t>
            </a:r>
            <a:r>
              <a:rPr lang="en-US" sz="3000">
                <a:solidFill>
                  <a:srgbClr val="000000"/>
                </a:solidFill>
                <a:latin typeface="Montserrat"/>
                <a:ea typeface="Montserrat"/>
                <a:cs typeface="Montserrat"/>
                <a:sym typeface="Montserrat"/>
              </a:rPr>
              <a:t>Multiple language option </a:t>
            </a:r>
          </a:p>
        </p:txBody>
      </p:sp>
      <p:sp>
        <p:nvSpPr>
          <p:cNvPr id="9" name="TextBox 9"/>
          <p:cNvSpPr txBox="1"/>
          <p:nvPr/>
        </p:nvSpPr>
        <p:spPr>
          <a:xfrm>
            <a:off x="9665018" y="6583199"/>
            <a:ext cx="7594282" cy="1444445"/>
          </a:xfrm>
          <a:prstGeom prst="rect">
            <a:avLst/>
          </a:prstGeom>
        </p:spPr>
        <p:txBody>
          <a:bodyPr lIns="0" tIns="0" rIns="0" bIns="0" rtlCol="0" anchor="t">
            <a:spAutoFit/>
          </a:bodyPr>
          <a:lstStyle/>
          <a:p>
            <a:pPr algn="l">
              <a:lnSpc>
                <a:spcPts val="3859"/>
              </a:lnSpc>
            </a:pPr>
            <a:r>
              <a:rPr lang="en-US" sz="2757">
                <a:solidFill>
                  <a:srgbClr val="000000"/>
                </a:solidFill>
                <a:latin typeface="Montserrat Bold"/>
                <a:ea typeface="Montserrat Bold"/>
                <a:cs typeface="Montserrat Bold"/>
                <a:sym typeface="Montserrat Bold"/>
              </a:rPr>
              <a:t>. </a:t>
            </a:r>
            <a:r>
              <a:rPr lang="en-US" sz="2757">
                <a:solidFill>
                  <a:srgbClr val="000000"/>
                </a:solidFill>
                <a:latin typeface="Montserrat"/>
                <a:ea typeface="Montserrat"/>
                <a:cs typeface="Montserrat"/>
                <a:sym typeface="Montserrat"/>
              </a:rPr>
              <a:t>An intuitive software solution designed for ease of use by all stakeholders. </a:t>
            </a:r>
          </a:p>
          <a:p>
            <a:pPr algn="l">
              <a:lnSpc>
                <a:spcPts val="3859"/>
              </a:lnSpc>
              <a:spcBef>
                <a:spcPct val="0"/>
              </a:spcBef>
            </a:pPr>
            <a:endParaRPr lang="en-US" sz="2757">
              <a:solidFill>
                <a:srgbClr val="000000"/>
              </a:solidFill>
              <a:latin typeface="Montserrat"/>
              <a:ea typeface="Montserrat"/>
              <a:cs typeface="Montserrat"/>
              <a:sym typeface="Montserrat"/>
            </a:endParaRPr>
          </a:p>
        </p:txBody>
      </p:sp>
      <p:sp>
        <p:nvSpPr>
          <p:cNvPr id="10" name="TextBox 10"/>
          <p:cNvSpPr txBox="1"/>
          <p:nvPr/>
        </p:nvSpPr>
        <p:spPr>
          <a:xfrm>
            <a:off x="9665018" y="7945701"/>
            <a:ext cx="7881286" cy="1930146"/>
          </a:xfrm>
          <a:prstGeom prst="rect">
            <a:avLst/>
          </a:prstGeom>
        </p:spPr>
        <p:txBody>
          <a:bodyPr lIns="0" tIns="0" rIns="0" bIns="0" rtlCol="0" anchor="t">
            <a:spAutoFit/>
          </a:bodyPr>
          <a:lstStyle/>
          <a:p>
            <a:pPr algn="l">
              <a:lnSpc>
                <a:spcPts val="3863"/>
              </a:lnSpc>
            </a:pPr>
            <a:r>
              <a:rPr lang="en-US" sz="2760">
                <a:solidFill>
                  <a:srgbClr val="000000"/>
                </a:solidFill>
                <a:latin typeface="Montserrat Bold"/>
                <a:ea typeface="Montserrat Bold"/>
                <a:cs typeface="Montserrat Bold"/>
                <a:sym typeface="Montserrat Bold"/>
              </a:rPr>
              <a:t>. </a:t>
            </a:r>
            <a:r>
              <a:rPr lang="en-US" sz="2760">
                <a:solidFill>
                  <a:srgbClr val="000000"/>
                </a:solidFill>
                <a:latin typeface="Montserrat"/>
                <a:ea typeface="Montserrat"/>
                <a:cs typeface="Montserrat"/>
                <a:sym typeface="Montserrat"/>
              </a:rPr>
              <a:t>The user can request the medical and educational records of the residents from the admin.</a:t>
            </a:r>
          </a:p>
          <a:p>
            <a:pPr algn="l">
              <a:lnSpc>
                <a:spcPts val="3863"/>
              </a:lnSpc>
              <a:spcBef>
                <a:spcPct val="0"/>
              </a:spcBef>
            </a:pPr>
            <a:endParaRPr lang="en-US" sz="2760">
              <a:solidFill>
                <a:srgbClr val="000000"/>
              </a:solidFill>
              <a:latin typeface="Montserrat"/>
              <a:ea typeface="Montserrat"/>
              <a:cs typeface="Montserrat"/>
              <a:sym typeface="Montserrat"/>
            </a:endParaRPr>
          </a:p>
        </p:txBody>
      </p:sp>
      <p:sp>
        <p:nvSpPr>
          <p:cNvPr id="11" name="AutoShape 11"/>
          <p:cNvSpPr/>
          <p:nvPr/>
        </p:nvSpPr>
        <p:spPr>
          <a:xfrm>
            <a:off x="9665018" y="6311736"/>
            <a:ext cx="7033024" cy="0"/>
          </a:xfrm>
          <a:prstGeom prst="line">
            <a:avLst/>
          </a:prstGeom>
          <a:ln w="9525" cap="rnd">
            <a:solidFill>
              <a:srgbClr val="000000"/>
            </a:solidFill>
            <a:prstDash val="solid"/>
            <a:headEnd type="none" w="sm" len="sm"/>
            <a:tailEnd type="none" w="sm" len="sm"/>
          </a:ln>
        </p:spPr>
      </p:sp>
      <p:sp>
        <p:nvSpPr>
          <p:cNvPr id="12" name="AutoShape 12"/>
          <p:cNvSpPr/>
          <p:nvPr/>
        </p:nvSpPr>
        <p:spPr>
          <a:xfrm>
            <a:off x="9665018" y="5320334"/>
            <a:ext cx="7033024" cy="0"/>
          </a:xfrm>
          <a:prstGeom prst="line">
            <a:avLst/>
          </a:prstGeom>
          <a:ln w="9525" cap="rnd">
            <a:solidFill>
              <a:srgbClr val="000000"/>
            </a:solidFill>
            <a:prstDash val="solid"/>
            <a:headEnd type="none" w="sm" len="sm"/>
            <a:tailEnd type="none" w="sm" len="sm"/>
          </a:ln>
        </p:spPr>
      </p:sp>
      <p:sp>
        <p:nvSpPr>
          <p:cNvPr id="13" name="AutoShape 13"/>
          <p:cNvSpPr/>
          <p:nvPr/>
        </p:nvSpPr>
        <p:spPr>
          <a:xfrm>
            <a:off x="9665018" y="7855213"/>
            <a:ext cx="7033024" cy="0"/>
          </a:xfrm>
          <a:prstGeom prst="line">
            <a:avLst/>
          </a:prstGeom>
          <a:ln w="9525" cap="rnd">
            <a:solidFill>
              <a:srgbClr val="000000"/>
            </a:solidFill>
            <a:prstDash val="solid"/>
            <a:headEnd type="none" w="sm" len="sm"/>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E3D6"/>
        </a:solidFill>
        <a:effectLst/>
      </p:bgPr>
    </p:bg>
    <p:spTree>
      <p:nvGrpSpPr>
        <p:cNvPr id="1" name=""/>
        <p:cNvGrpSpPr/>
        <p:nvPr/>
      </p:nvGrpSpPr>
      <p:grpSpPr>
        <a:xfrm>
          <a:off x="0" y="0"/>
          <a:ext cx="0" cy="0"/>
          <a:chOff x="0" y="0"/>
          <a:chExt cx="0" cy="0"/>
        </a:xfrm>
      </p:grpSpPr>
      <p:sp>
        <p:nvSpPr>
          <p:cNvPr id="2" name="TextBox 2"/>
          <p:cNvSpPr txBox="1"/>
          <p:nvPr/>
        </p:nvSpPr>
        <p:spPr>
          <a:xfrm>
            <a:off x="736211" y="-123825"/>
            <a:ext cx="16146851" cy="1119403"/>
          </a:xfrm>
          <a:prstGeom prst="rect">
            <a:avLst/>
          </a:prstGeom>
        </p:spPr>
        <p:txBody>
          <a:bodyPr lIns="0" tIns="0" rIns="0" bIns="0" rtlCol="0" anchor="t">
            <a:spAutoFit/>
          </a:bodyPr>
          <a:lstStyle/>
          <a:p>
            <a:pPr algn="ctr">
              <a:lnSpc>
                <a:spcPts val="9175"/>
              </a:lnSpc>
              <a:spcBef>
                <a:spcPct val="0"/>
              </a:spcBef>
            </a:pPr>
            <a:r>
              <a:rPr lang="en-US" sz="6554">
                <a:solidFill>
                  <a:srgbClr val="000000"/>
                </a:solidFill>
                <a:latin typeface="Montserrat Bold"/>
                <a:ea typeface="Montserrat Bold"/>
                <a:cs typeface="Montserrat Bold"/>
                <a:sym typeface="Montserrat Bold"/>
              </a:rPr>
              <a:t>MODULES OF THE SYSTEM</a:t>
            </a:r>
          </a:p>
        </p:txBody>
      </p:sp>
      <p:sp>
        <p:nvSpPr>
          <p:cNvPr id="3" name="AutoShape 3"/>
          <p:cNvSpPr/>
          <p:nvPr/>
        </p:nvSpPr>
        <p:spPr>
          <a:xfrm>
            <a:off x="15339622" y="1893524"/>
            <a:ext cx="2948378" cy="0"/>
          </a:xfrm>
          <a:prstGeom prst="line">
            <a:avLst/>
          </a:prstGeom>
          <a:ln w="9525" cap="rnd">
            <a:solidFill>
              <a:srgbClr val="000000"/>
            </a:solidFill>
            <a:prstDash val="solid"/>
            <a:headEnd type="none" w="sm" len="sm"/>
            <a:tailEnd type="none" w="sm" len="sm"/>
          </a:ln>
        </p:spPr>
      </p:sp>
      <p:sp>
        <p:nvSpPr>
          <p:cNvPr id="4" name="TextBox 4"/>
          <p:cNvSpPr txBox="1"/>
          <p:nvPr/>
        </p:nvSpPr>
        <p:spPr>
          <a:xfrm>
            <a:off x="1488025" y="1350917"/>
            <a:ext cx="14297086" cy="537845"/>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Montserrat"/>
                <a:ea typeface="Montserrat"/>
                <a:cs typeface="Montserrat"/>
                <a:sym typeface="Montserrat"/>
              </a:rPr>
              <a:t>The system will consist of the following core modules: </a:t>
            </a:r>
          </a:p>
        </p:txBody>
      </p:sp>
      <p:sp>
        <p:nvSpPr>
          <p:cNvPr id="5" name="TextBox 5"/>
          <p:cNvSpPr txBox="1"/>
          <p:nvPr/>
        </p:nvSpPr>
        <p:spPr>
          <a:xfrm>
            <a:off x="514350" y="2253626"/>
            <a:ext cx="17259300" cy="8203565"/>
          </a:xfrm>
          <a:prstGeom prst="rect">
            <a:avLst/>
          </a:prstGeom>
        </p:spPr>
        <p:txBody>
          <a:bodyPr lIns="0" tIns="0" rIns="0" bIns="0" rtlCol="0" anchor="t">
            <a:spAutoFit/>
          </a:bodyPr>
          <a:lstStyle/>
          <a:p>
            <a:pPr algn="l">
              <a:lnSpc>
                <a:spcPts val="4060"/>
              </a:lnSpc>
            </a:pPr>
            <a:r>
              <a:rPr lang="en-US" sz="2900">
                <a:solidFill>
                  <a:srgbClr val="000000"/>
                </a:solidFill>
                <a:latin typeface="Montserrat Bold"/>
                <a:ea typeface="Montserrat Bold"/>
                <a:cs typeface="Montserrat Bold"/>
                <a:sym typeface="Montserrat Bold"/>
              </a:rPr>
              <a:t>REGISTRATION :</a:t>
            </a:r>
            <a:r>
              <a:rPr lang="en-US" sz="2900">
                <a:solidFill>
                  <a:srgbClr val="000000"/>
                </a:solidFill>
                <a:latin typeface="Montserrat"/>
                <a:ea typeface="Montserrat"/>
                <a:cs typeface="Montserrat"/>
                <a:sym typeface="Montserrat"/>
              </a:rPr>
              <a:t>User should register first into the website to be able to login in </a:t>
            </a:r>
          </a:p>
          <a:p>
            <a:pPr algn="l">
              <a:lnSpc>
                <a:spcPts val="4060"/>
              </a:lnSpc>
            </a:pPr>
            <a:r>
              <a:rPr lang="en-US" sz="2900">
                <a:solidFill>
                  <a:srgbClr val="000000"/>
                </a:solidFill>
                <a:latin typeface="Montserrat Bold"/>
                <a:ea typeface="Montserrat Bold"/>
                <a:cs typeface="Montserrat Bold"/>
                <a:sym typeface="Montserrat Bold"/>
              </a:rPr>
              <a:t>LOGIN: </a:t>
            </a:r>
            <a:r>
              <a:rPr lang="en-US" sz="2900">
                <a:solidFill>
                  <a:srgbClr val="000000"/>
                </a:solidFill>
                <a:latin typeface="Montserrat"/>
                <a:ea typeface="Montserrat"/>
                <a:cs typeface="Montserrat"/>
                <a:sym typeface="Montserrat"/>
              </a:rPr>
              <a:t>User and Admin would be able to login to the online facility website  </a:t>
            </a:r>
          </a:p>
          <a:p>
            <a:pPr algn="l">
              <a:lnSpc>
                <a:spcPts val="4060"/>
              </a:lnSpc>
            </a:pPr>
            <a:r>
              <a:rPr lang="en-US" sz="2900">
                <a:solidFill>
                  <a:srgbClr val="000000"/>
                </a:solidFill>
                <a:latin typeface="Montserrat Bold"/>
                <a:ea typeface="Montserrat Bold"/>
                <a:cs typeface="Montserrat Bold"/>
                <a:sym typeface="Montserrat Bold"/>
              </a:rPr>
              <a:t>RESIDENT DETAIL: </a:t>
            </a:r>
            <a:r>
              <a:rPr lang="en-US" sz="2900">
                <a:solidFill>
                  <a:srgbClr val="000000"/>
                </a:solidFill>
                <a:latin typeface="Montserrat"/>
                <a:ea typeface="Montserrat"/>
                <a:cs typeface="Montserrat"/>
                <a:sym typeface="Montserrat"/>
              </a:rPr>
              <a:t>Here all the details of the facility resident will be stored</a:t>
            </a:r>
          </a:p>
          <a:p>
            <a:pPr algn="l">
              <a:lnSpc>
                <a:spcPts val="4060"/>
              </a:lnSpc>
            </a:pPr>
            <a:r>
              <a:rPr lang="en-US" sz="2900">
                <a:solidFill>
                  <a:srgbClr val="000000"/>
                </a:solidFill>
                <a:latin typeface="Montserrat Bold"/>
                <a:ea typeface="Montserrat Bold"/>
                <a:cs typeface="Montserrat Bold"/>
                <a:sym typeface="Montserrat Bold"/>
              </a:rPr>
              <a:t>DONATION DETAIL:</a:t>
            </a:r>
            <a:r>
              <a:rPr lang="en-US" sz="2900">
                <a:solidFill>
                  <a:srgbClr val="000000"/>
                </a:solidFill>
                <a:latin typeface="Montserrat"/>
                <a:ea typeface="Montserrat"/>
                <a:cs typeface="Montserrat"/>
                <a:sym typeface="Montserrat"/>
              </a:rPr>
              <a:t> Tools for organizing and managing community fundraising efforts and charitable donations. </a:t>
            </a:r>
          </a:p>
          <a:p>
            <a:pPr algn="l">
              <a:lnSpc>
                <a:spcPts val="4060"/>
              </a:lnSpc>
            </a:pPr>
            <a:r>
              <a:rPr lang="en-US" sz="2900">
                <a:solidFill>
                  <a:srgbClr val="000000"/>
                </a:solidFill>
                <a:latin typeface="Montserrat Bold"/>
                <a:ea typeface="Montserrat Bold"/>
                <a:cs typeface="Montserrat Bold"/>
                <a:sym typeface="Montserrat Bold"/>
              </a:rPr>
              <a:t>APPOINTMENT SLOT:</a:t>
            </a:r>
            <a:r>
              <a:rPr lang="en-US" sz="2900">
                <a:solidFill>
                  <a:srgbClr val="000000"/>
                </a:solidFill>
                <a:latin typeface="Montserrat"/>
                <a:ea typeface="Montserrat"/>
                <a:cs typeface="Montserrat"/>
                <a:sym typeface="Montserrat"/>
              </a:rPr>
              <a:t> Tool the user can use to book slots to visit the facility and spend time with the Residents. </a:t>
            </a:r>
          </a:p>
          <a:p>
            <a:pPr algn="l">
              <a:lnSpc>
                <a:spcPts val="4060"/>
              </a:lnSpc>
            </a:pPr>
            <a:r>
              <a:rPr lang="en-US" sz="2900">
                <a:solidFill>
                  <a:srgbClr val="000000"/>
                </a:solidFill>
                <a:latin typeface="Montserrat Bold"/>
                <a:ea typeface="Montserrat Bold"/>
                <a:cs typeface="Montserrat Bold"/>
                <a:sym typeface="Montserrat Bold"/>
              </a:rPr>
              <a:t>STORE DETAIL:</a:t>
            </a:r>
            <a:r>
              <a:rPr lang="en-US" sz="2900">
                <a:solidFill>
                  <a:srgbClr val="000000"/>
                </a:solidFill>
                <a:latin typeface="Montserrat"/>
                <a:ea typeface="Montserrat"/>
                <a:cs typeface="Montserrat"/>
                <a:sym typeface="Montserrat"/>
              </a:rPr>
              <a:t> The user can get the details about the items made and sold by the residents of the facility. </a:t>
            </a:r>
          </a:p>
          <a:p>
            <a:pPr algn="l">
              <a:lnSpc>
                <a:spcPts val="4060"/>
              </a:lnSpc>
            </a:pPr>
            <a:r>
              <a:rPr lang="en-US" sz="2900">
                <a:solidFill>
                  <a:srgbClr val="000000"/>
                </a:solidFill>
                <a:latin typeface="Montserrat Bold"/>
                <a:ea typeface="Montserrat Bold"/>
                <a:cs typeface="Montserrat Bold"/>
                <a:sym typeface="Montserrat Bold"/>
              </a:rPr>
              <a:t>MEDICAL RECORD: </a:t>
            </a:r>
            <a:r>
              <a:rPr lang="en-US" sz="2900">
                <a:solidFill>
                  <a:srgbClr val="000000"/>
                </a:solidFill>
                <a:latin typeface="Montserrat"/>
                <a:ea typeface="Montserrat"/>
                <a:cs typeface="Montserrat"/>
                <a:sym typeface="Montserrat"/>
              </a:rPr>
              <a:t>This module will help the admin to send the medical records to the guardians of the resident.</a:t>
            </a:r>
          </a:p>
          <a:p>
            <a:pPr algn="l">
              <a:lnSpc>
                <a:spcPts val="4060"/>
              </a:lnSpc>
            </a:pPr>
            <a:r>
              <a:rPr lang="en-US" sz="2900">
                <a:solidFill>
                  <a:srgbClr val="000000"/>
                </a:solidFill>
                <a:latin typeface="Montserrat Bold"/>
                <a:ea typeface="Montserrat Bold"/>
                <a:cs typeface="Montserrat Bold"/>
                <a:sym typeface="Montserrat Bold"/>
              </a:rPr>
              <a:t>EDUCATION RECORD:</a:t>
            </a:r>
            <a:r>
              <a:rPr lang="en-US" sz="2900">
                <a:solidFill>
                  <a:srgbClr val="000000"/>
                </a:solidFill>
                <a:latin typeface="Montserrat"/>
                <a:ea typeface="Montserrat"/>
                <a:cs typeface="Montserrat"/>
                <a:sym typeface="Montserrat"/>
              </a:rPr>
              <a:t> This module will help the admin to send the educational records to the guardians of the resident.</a:t>
            </a:r>
          </a:p>
          <a:p>
            <a:pPr algn="l">
              <a:lnSpc>
                <a:spcPts val="4060"/>
              </a:lnSpc>
            </a:pPr>
            <a:r>
              <a:rPr lang="en-US" sz="2900">
                <a:solidFill>
                  <a:srgbClr val="000000"/>
                </a:solidFill>
                <a:latin typeface="Montserrat Bold"/>
                <a:ea typeface="Montserrat Bold"/>
                <a:cs typeface="Montserrat Bold"/>
                <a:sym typeface="Montserrat Bold"/>
              </a:rPr>
              <a:t>FEEDBACK: </a:t>
            </a:r>
            <a:r>
              <a:rPr lang="en-US" sz="2900">
                <a:solidFill>
                  <a:srgbClr val="000000"/>
                </a:solidFill>
                <a:latin typeface="Montserrat"/>
                <a:ea typeface="Montserrat"/>
                <a:cs typeface="Montserrat"/>
                <a:sym typeface="Montserrat"/>
              </a:rPr>
              <a:t>This module will allow the people to give feedback about their experience in the facility. </a:t>
            </a:r>
          </a:p>
          <a:p>
            <a:pPr algn="l">
              <a:lnSpc>
                <a:spcPts val="4060"/>
              </a:lnSpc>
              <a:spcBef>
                <a:spcPct val="0"/>
              </a:spcBef>
            </a:pPr>
            <a:endParaRPr lang="en-US" sz="2900">
              <a:solidFill>
                <a:srgbClr val="00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14964"/>
        </a:solidFill>
        <a:effectLst/>
      </p:bgPr>
    </p:bg>
    <p:spTree>
      <p:nvGrpSpPr>
        <p:cNvPr id="1" name=""/>
        <p:cNvGrpSpPr/>
        <p:nvPr/>
      </p:nvGrpSpPr>
      <p:grpSpPr>
        <a:xfrm>
          <a:off x="0" y="0"/>
          <a:ext cx="0" cy="0"/>
          <a:chOff x="0" y="0"/>
          <a:chExt cx="0" cy="0"/>
        </a:xfrm>
      </p:grpSpPr>
      <p:sp>
        <p:nvSpPr>
          <p:cNvPr id="2" name="AutoShape 2"/>
          <p:cNvSpPr/>
          <p:nvPr/>
        </p:nvSpPr>
        <p:spPr>
          <a:xfrm rot="5400000">
            <a:off x="947290" y="6860683"/>
            <a:ext cx="6843109" cy="0"/>
          </a:xfrm>
          <a:prstGeom prst="line">
            <a:avLst/>
          </a:prstGeom>
          <a:ln w="9525" cap="rnd">
            <a:solidFill>
              <a:srgbClr val="FFFFFF"/>
            </a:solidFill>
            <a:prstDash val="solid"/>
            <a:headEnd type="none" w="sm" len="sm"/>
            <a:tailEnd type="none" w="sm" len="sm"/>
          </a:ln>
        </p:spPr>
      </p:sp>
      <p:sp>
        <p:nvSpPr>
          <p:cNvPr id="3" name="AutoShape 3"/>
          <p:cNvSpPr/>
          <p:nvPr/>
        </p:nvSpPr>
        <p:spPr>
          <a:xfrm>
            <a:off x="0" y="3443891"/>
            <a:ext cx="18246628" cy="0"/>
          </a:xfrm>
          <a:prstGeom prst="line">
            <a:avLst/>
          </a:prstGeom>
          <a:ln w="9525" cap="rnd">
            <a:solidFill>
              <a:srgbClr val="FFFFFF"/>
            </a:solidFill>
            <a:prstDash val="solid"/>
            <a:headEnd type="none" w="sm" len="sm"/>
            <a:tailEnd type="none" w="sm" len="sm"/>
          </a:ln>
        </p:spPr>
      </p:sp>
      <p:sp>
        <p:nvSpPr>
          <p:cNvPr id="4" name="AutoShape 4"/>
          <p:cNvSpPr/>
          <p:nvPr/>
        </p:nvSpPr>
        <p:spPr>
          <a:xfrm rot="5400000">
            <a:off x="5243715" y="7053476"/>
            <a:ext cx="7228694" cy="0"/>
          </a:xfrm>
          <a:prstGeom prst="line">
            <a:avLst/>
          </a:prstGeom>
          <a:ln w="9525" cap="rnd">
            <a:solidFill>
              <a:srgbClr val="FFFFFF"/>
            </a:solidFill>
            <a:prstDash val="solid"/>
            <a:headEnd type="none" w="sm" len="sm"/>
            <a:tailEnd type="none" w="sm" len="sm"/>
          </a:ln>
        </p:spPr>
      </p:sp>
      <p:sp>
        <p:nvSpPr>
          <p:cNvPr id="5" name="AutoShape 5"/>
          <p:cNvSpPr/>
          <p:nvPr/>
        </p:nvSpPr>
        <p:spPr>
          <a:xfrm rot="5400000">
            <a:off x="10172548" y="6860683"/>
            <a:ext cx="6843109" cy="0"/>
          </a:xfrm>
          <a:prstGeom prst="line">
            <a:avLst/>
          </a:prstGeom>
          <a:ln w="9525" cap="rnd">
            <a:solidFill>
              <a:srgbClr val="FFFFFF"/>
            </a:solidFill>
            <a:prstDash val="solid"/>
            <a:headEnd type="none" w="sm" len="sm"/>
            <a:tailEnd type="none" w="sm" len="sm"/>
          </a:ln>
        </p:spPr>
      </p:sp>
      <p:sp>
        <p:nvSpPr>
          <p:cNvPr id="6" name="AutoShape 6"/>
          <p:cNvSpPr/>
          <p:nvPr/>
        </p:nvSpPr>
        <p:spPr>
          <a:xfrm>
            <a:off x="9139238" y="3443891"/>
            <a:ext cx="0" cy="7228694"/>
          </a:xfrm>
          <a:prstGeom prst="line">
            <a:avLst/>
          </a:prstGeom>
          <a:ln w="9525" cap="rnd">
            <a:solidFill>
              <a:srgbClr val="FFFFFF"/>
            </a:solidFill>
            <a:prstDash val="solid"/>
            <a:headEnd type="none" w="sm" len="sm"/>
            <a:tailEnd type="none" w="sm" len="sm"/>
          </a:ln>
        </p:spPr>
      </p:sp>
      <p:sp>
        <p:nvSpPr>
          <p:cNvPr id="7" name="Freeform 7"/>
          <p:cNvSpPr/>
          <p:nvPr/>
        </p:nvSpPr>
        <p:spPr>
          <a:xfrm>
            <a:off x="9597659" y="7352219"/>
            <a:ext cx="481058" cy="478434"/>
          </a:xfrm>
          <a:custGeom>
            <a:avLst/>
            <a:gdLst/>
            <a:ahLst/>
            <a:cxnLst/>
            <a:rect l="l" t="t" r="r" b="b"/>
            <a:pathLst>
              <a:path w="481058" h="478434">
                <a:moveTo>
                  <a:pt x="0" y="0"/>
                </a:moveTo>
                <a:lnTo>
                  <a:pt x="481058" y="0"/>
                </a:lnTo>
                <a:lnTo>
                  <a:pt x="481058" y="478434"/>
                </a:lnTo>
                <a:lnTo>
                  <a:pt x="0" y="4784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0180538" y="7352219"/>
            <a:ext cx="338879" cy="477906"/>
          </a:xfrm>
          <a:custGeom>
            <a:avLst/>
            <a:gdLst/>
            <a:ahLst/>
            <a:cxnLst/>
            <a:rect l="l" t="t" r="r" b="b"/>
            <a:pathLst>
              <a:path w="338879" h="477906">
                <a:moveTo>
                  <a:pt x="0" y="0"/>
                </a:moveTo>
                <a:lnTo>
                  <a:pt x="338879" y="0"/>
                </a:lnTo>
                <a:lnTo>
                  <a:pt x="338879" y="477906"/>
                </a:lnTo>
                <a:lnTo>
                  <a:pt x="0" y="4779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1212544" y="7486123"/>
            <a:ext cx="645727" cy="333430"/>
          </a:xfrm>
          <a:custGeom>
            <a:avLst/>
            <a:gdLst/>
            <a:ahLst/>
            <a:cxnLst/>
            <a:rect l="l" t="t" r="r" b="b"/>
            <a:pathLst>
              <a:path w="645727" h="333430">
                <a:moveTo>
                  <a:pt x="0" y="0"/>
                </a:moveTo>
                <a:lnTo>
                  <a:pt x="645727" y="0"/>
                </a:lnTo>
                <a:lnTo>
                  <a:pt x="645727" y="333431"/>
                </a:lnTo>
                <a:lnTo>
                  <a:pt x="0" y="3334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5059739" y="4349207"/>
            <a:ext cx="1400747" cy="1408429"/>
          </a:xfrm>
          <a:custGeom>
            <a:avLst/>
            <a:gdLst/>
            <a:ahLst/>
            <a:cxnLst/>
            <a:rect l="l" t="t" r="r" b="b"/>
            <a:pathLst>
              <a:path w="1400747" h="1408429">
                <a:moveTo>
                  <a:pt x="0" y="0"/>
                </a:moveTo>
                <a:lnTo>
                  <a:pt x="1400746" y="0"/>
                </a:lnTo>
                <a:lnTo>
                  <a:pt x="1400746" y="1408429"/>
                </a:lnTo>
                <a:lnTo>
                  <a:pt x="0" y="140842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a:off x="5907558" y="4152942"/>
            <a:ext cx="1640817" cy="1312654"/>
          </a:xfrm>
          <a:custGeom>
            <a:avLst/>
            <a:gdLst/>
            <a:ahLst/>
            <a:cxnLst/>
            <a:rect l="l" t="t" r="r" b="b"/>
            <a:pathLst>
              <a:path w="1640817" h="1312654">
                <a:moveTo>
                  <a:pt x="0" y="0"/>
                </a:moveTo>
                <a:lnTo>
                  <a:pt x="1640817" y="0"/>
                </a:lnTo>
                <a:lnTo>
                  <a:pt x="1640817" y="1312654"/>
                </a:lnTo>
                <a:lnTo>
                  <a:pt x="0" y="13126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a:off x="10180538" y="4189261"/>
            <a:ext cx="1873840" cy="1499072"/>
          </a:xfrm>
          <a:custGeom>
            <a:avLst/>
            <a:gdLst/>
            <a:ahLst/>
            <a:cxnLst/>
            <a:rect l="l" t="t" r="r" b="b"/>
            <a:pathLst>
              <a:path w="1873840" h="1499072">
                <a:moveTo>
                  <a:pt x="0" y="0"/>
                </a:moveTo>
                <a:lnTo>
                  <a:pt x="1873840" y="0"/>
                </a:lnTo>
                <a:lnTo>
                  <a:pt x="1873840" y="1499072"/>
                </a:lnTo>
                <a:lnTo>
                  <a:pt x="0" y="149907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3" name="Freeform 13"/>
          <p:cNvSpPr/>
          <p:nvPr/>
        </p:nvSpPr>
        <p:spPr>
          <a:xfrm>
            <a:off x="11972700" y="7415162"/>
            <a:ext cx="405478" cy="416847"/>
          </a:xfrm>
          <a:custGeom>
            <a:avLst/>
            <a:gdLst/>
            <a:ahLst/>
            <a:cxnLst/>
            <a:rect l="l" t="t" r="r" b="b"/>
            <a:pathLst>
              <a:path w="405478" h="416847">
                <a:moveTo>
                  <a:pt x="0" y="0"/>
                </a:moveTo>
                <a:lnTo>
                  <a:pt x="405479" y="0"/>
                </a:lnTo>
                <a:lnTo>
                  <a:pt x="405479" y="416847"/>
                </a:lnTo>
                <a:lnTo>
                  <a:pt x="0" y="41684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4" name="Freeform 14"/>
          <p:cNvSpPr/>
          <p:nvPr/>
        </p:nvSpPr>
        <p:spPr>
          <a:xfrm>
            <a:off x="10690867" y="7439718"/>
            <a:ext cx="426591" cy="438552"/>
          </a:xfrm>
          <a:custGeom>
            <a:avLst/>
            <a:gdLst/>
            <a:ahLst/>
            <a:cxnLst/>
            <a:rect l="l" t="t" r="r" b="b"/>
            <a:pathLst>
              <a:path w="426591" h="438552">
                <a:moveTo>
                  <a:pt x="0" y="0"/>
                </a:moveTo>
                <a:lnTo>
                  <a:pt x="426591" y="0"/>
                </a:lnTo>
                <a:lnTo>
                  <a:pt x="426591" y="438552"/>
                </a:lnTo>
                <a:lnTo>
                  <a:pt x="0" y="43855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5" name="TextBox 15"/>
          <p:cNvSpPr txBox="1"/>
          <p:nvPr/>
        </p:nvSpPr>
        <p:spPr>
          <a:xfrm>
            <a:off x="13770315" y="6440321"/>
            <a:ext cx="4820008" cy="3448050"/>
          </a:xfrm>
          <a:prstGeom prst="rect">
            <a:avLst/>
          </a:prstGeom>
        </p:spPr>
        <p:txBody>
          <a:bodyPr lIns="0" tIns="0" rIns="0" bIns="0" rtlCol="0" anchor="t">
            <a:spAutoFit/>
          </a:bodyPr>
          <a:lstStyle/>
          <a:p>
            <a:pPr algn="ctr">
              <a:lnSpc>
                <a:spcPts val="3249"/>
              </a:lnSpc>
            </a:pPr>
            <a:r>
              <a:rPr lang="en-US" sz="2499">
                <a:solidFill>
                  <a:srgbClr val="FFFFFF"/>
                </a:solidFill>
                <a:latin typeface="Montserrat Bold"/>
                <a:ea typeface="Montserrat Bold"/>
                <a:cs typeface="Montserrat Bold"/>
                <a:sym typeface="Montserrat Bold"/>
              </a:rPr>
              <a:t>Web framework:</a:t>
            </a:r>
            <a:r>
              <a:rPr lang="en-US" sz="2499">
                <a:solidFill>
                  <a:srgbClr val="FFFFFF"/>
                </a:solidFill>
                <a:latin typeface="Montserrat"/>
                <a:ea typeface="Montserrat"/>
                <a:cs typeface="Montserrat"/>
                <a:sym typeface="Montserrat"/>
              </a:rPr>
              <a:t> </a:t>
            </a:r>
          </a:p>
          <a:p>
            <a:pPr algn="ctr">
              <a:lnSpc>
                <a:spcPts val="2691"/>
              </a:lnSpc>
            </a:pPr>
            <a:r>
              <a:rPr lang="en-US" sz="2070">
                <a:solidFill>
                  <a:srgbClr val="FFFFFF"/>
                </a:solidFill>
                <a:latin typeface="Montserrat"/>
                <a:ea typeface="Montserrat"/>
                <a:cs typeface="Montserrat"/>
                <a:sym typeface="Montserrat"/>
              </a:rPr>
              <a:t>DJango,Flask</a:t>
            </a:r>
          </a:p>
          <a:p>
            <a:pPr algn="ctr">
              <a:lnSpc>
                <a:spcPts val="2691"/>
              </a:lnSpc>
            </a:pPr>
            <a:endParaRPr lang="en-US" sz="2070">
              <a:solidFill>
                <a:srgbClr val="FFFFFF"/>
              </a:solidFill>
              <a:latin typeface="Montserrat"/>
              <a:ea typeface="Montserrat"/>
              <a:cs typeface="Montserrat"/>
              <a:sym typeface="Montserrat"/>
            </a:endParaRPr>
          </a:p>
          <a:p>
            <a:pPr algn="ctr">
              <a:lnSpc>
                <a:spcPts val="3250"/>
              </a:lnSpc>
            </a:pPr>
            <a:r>
              <a:rPr lang="en-US" sz="2500">
                <a:solidFill>
                  <a:srgbClr val="FFFFFF"/>
                </a:solidFill>
                <a:latin typeface="Montserrat"/>
                <a:ea typeface="Montserrat"/>
                <a:cs typeface="Montserrat"/>
                <a:sym typeface="Montserrat"/>
              </a:rPr>
              <a:t> </a:t>
            </a:r>
            <a:r>
              <a:rPr lang="en-US" sz="2500">
                <a:solidFill>
                  <a:srgbClr val="FFFFFF"/>
                </a:solidFill>
                <a:latin typeface="Montserrat Bold"/>
                <a:ea typeface="Montserrat Bold"/>
                <a:cs typeface="Montserrat Bold"/>
                <a:sym typeface="Montserrat Bold"/>
              </a:rPr>
              <a:t>Package manager:</a:t>
            </a:r>
            <a:r>
              <a:rPr lang="en-US" sz="2500">
                <a:solidFill>
                  <a:srgbClr val="FFFFFF"/>
                </a:solidFill>
                <a:latin typeface="Montserrat"/>
                <a:ea typeface="Montserrat"/>
                <a:cs typeface="Montserrat"/>
                <a:sym typeface="Montserrat"/>
              </a:rPr>
              <a:t> </a:t>
            </a:r>
          </a:p>
          <a:p>
            <a:pPr algn="ctr">
              <a:lnSpc>
                <a:spcPts val="2691"/>
              </a:lnSpc>
            </a:pPr>
            <a:r>
              <a:rPr lang="en-US" sz="2070">
                <a:solidFill>
                  <a:srgbClr val="FFFFFF"/>
                </a:solidFill>
                <a:latin typeface="Montserrat"/>
                <a:ea typeface="Montserrat"/>
                <a:cs typeface="Montserrat"/>
                <a:sym typeface="Montserrat"/>
              </a:rPr>
              <a:t>pip    </a:t>
            </a:r>
          </a:p>
          <a:p>
            <a:pPr algn="ctr">
              <a:lnSpc>
                <a:spcPts val="2691"/>
              </a:lnSpc>
            </a:pPr>
            <a:r>
              <a:rPr lang="en-US" sz="2070">
                <a:solidFill>
                  <a:srgbClr val="FFFFFF"/>
                </a:solidFill>
                <a:latin typeface="Montserrat"/>
                <a:ea typeface="Montserrat"/>
                <a:cs typeface="Montserrat"/>
                <a:sym typeface="Montserrat"/>
              </a:rPr>
              <a:t>                        </a:t>
            </a:r>
          </a:p>
          <a:p>
            <a:pPr algn="ctr">
              <a:lnSpc>
                <a:spcPts val="3249"/>
              </a:lnSpc>
            </a:pPr>
            <a:r>
              <a:rPr lang="en-US" sz="2499">
                <a:solidFill>
                  <a:srgbClr val="FFFFFF"/>
                </a:solidFill>
                <a:latin typeface="Montserrat"/>
                <a:ea typeface="Montserrat"/>
                <a:cs typeface="Montserrat"/>
                <a:sym typeface="Montserrat"/>
              </a:rPr>
              <a:t> </a:t>
            </a:r>
            <a:r>
              <a:rPr lang="en-US" sz="2499">
                <a:solidFill>
                  <a:srgbClr val="FFFFFF"/>
                </a:solidFill>
                <a:latin typeface="Montserrat Bold"/>
                <a:ea typeface="Montserrat Bold"/>
                <a:cs typeface="Montserrat Bold"/>
                <a:sym typeface="Montserrat Bold"/>
              </a:rPr>
              <a:t>Operating system:</a:t>
            </a:r>
            <a:r>
              <a:rPr lang="en-US" sz="2499">
                <a:solidFill>
                  <a:srgbClr val="FFFFFF"/>
                </a:solidFill>
                <a:latin typeface="Montserrat"/>
                <a:ea typeface="Montserrat"/>
                <a:cs typeface="Montserrat"/>
                <a:sym typeface="Montserrat"/>
              </a:rPr>
              <a:t> </a:t>
            </a:r>
          </a:p>
          <a:p>
            <a:pPr algn="ctr">
              <a:lnSpc>
                <a:spcPts val="2691"/>
              </a:lnSpc>
            </a:pPr>
            <a:r>
              <a:rPr lang="en-US" sz="2070">
                <a:solidFill>
                  <a:srgbClr val="FFFFFF"/>
                </a:solidFill>
                <a:latin typeface="Montserrat"/>
                <a:ea typeface="Montserrat"/>
                <a:cs typeface="Montserrat"/>
                <a:sym typeface="Montserrat"/>
              </a:rPr>
              <a:t>Windows </a:t>
            </a:r>
          </a:p>
          <a:p>
            <a:pPr algn="just">
              <a:lnSpc>
                <a:spcPts val="4550"/>
              </a:lnSpc>
            </a:pPr>
            <a:endParaRPr lang="en-US" sz="2070">
              <a:solidFill>
                <a:srgbClr val="FFFFFF"/>
              </a:solidFill>
              <a:latin typeface="Montserrat"/>
              <a:ea typeface="Montserrat"/>
              <a:cs typeface="Montserrat"/>
              <a:sym typeface="Montserrat"/>
            </a:endParaRPr>
          </a:p>
        </p:txBody>
      </p:sp>
      <p:sp>
        <p:nvSpPr>
          <p:cNvPr id="16" name="TextBox 16"/>
          <p:cNvSpPr txBox="1"/>
          <p:nvPr/>
        </p:nvSpPr>
        <p:spPr>
          <a:xfrm>
            <a:off x="2451162" y="542505"/>
            <a:ext cx="13376150" cy="936627"/>
          </a:xfrm>
          <a:prstGeom prst="rect">
            <a:avLst/>
          </a:prstGeom>
        </p:spPr>
        <p:txBody>
          <a:bodyPr lIns="0" tIns="0" rIns="0" bIns="0" rtlCol="0" anchor="t">
            <a:spAutoFit/>
          </a:bodyPr>
          <a:lstStyle/>
          <a:p>
            <a:pPr algn="ctr">
              <a:lnSpc>
                <a:spcPts val="7699"/>
              </a:lnSpc>
              <a:spcBef>
                <a:spcPct val="0"/>
              </a:spcBef>
            </a:pPr>
            <a:r>
              <a:rPr lang="en-US" sz="5499" u="sng">
                <a:solidFill>
                  <a:srgbClr val="FFFFFF"/>
                </a:solidFill>
                <a:latin typeface="Montserrat Bold"/>
                <a:ea typeface="Montserrat Bold"/>
                <a:cs typeface="Montserrat Bold"/>
                <a:sym typeface="Montserrat Bold"/>
              </a:rPr>
              <a:t> REQUIREMENTS</a:t>
            </a:r>
          </a:p>
        </p:txBody>
      </p:sp>
      <p:sp>
        <p:nvSpPr>
          <p:cNvPr id="17" name="TextBox 17"/>
          <p:cNvSpPr txBox="1"/>
          <p:nvPr/>
        </p:nvSpPr>
        <p:spPr>
          <a:xfrm>
            <a:off x="612106" y="6329149"/>
            <a:ext cx="3199526" cy="2933184"/>
          </a:xfrm>
          <a:prstGeom prst="rect">
            <a:avLst/>
          </a:prstGeom>
        </p:spPr>
        <p:txBody>
          <a:bodyPr lIns="0" tIns="0" rIns="0" bIns="0" rtlCol="0" anchor="t">
            <a:spAutoFit/>
          </a:bodyPr>
          <a:lstStyle/>
          <a:p>
            <a:pPr algn="ctr">
              <a:lnSpc>
                <a:spcPts val="3598"/>
              </a:lnSpc>
            </a:pPr>
            <a:r>
              <a:rPr lang="en-US" sz="2570">
                <a:solidFill>
                  <a:srgbClr val="FFFFFF"/>
                </a:solidFill>
                <a:latin typeface="Montserrat Bold"/>
                <a:ea typeface="Montserrat Bold"/>
                <a:cs typeface="Montserrat Bold"/>
                <a:sym typeface="Montserrat Bold"/>
              </a:rPr>
              <a:t>Processor:</a:t>
            </a:r>
            <a:r>
              <a:rPr lang="en-US" sz="2570">
                <a:solidFill>
                  <a:srgbClr val="FFFFFF"/>
                </a:solidFill>
                <a:latin typeface="Montserrat"/>
                <a:ea typeface="Montserrat"/>
                <a:cs typeface="Montserrat"/>
                <a:sym typeface="Montserrat"/>
              </a:rPr>
              <a:t>   </a:t>
            </a:r>
          </a:p>
          <a:p>
            <a:pPr algn="ctr">
              <a:lnSpc>
                <a:spcPts val="2758"/>
              </a:lnSpc>
            </a:pPr>
            <a:endParaRPr lang="en-US" sz="2570">
              <a:solidFill>
                <a:srgbClr val="FFFFFF"/>
              </a:solidFill>
              <a:latin typeface="Montserrat"/>
              <a:ea typeface="Montserrat"/>
              <a:cs typeface="Montserrat"/>
              <a:sym typeface="Montserrat"/>
            </a:endParaRPr>
          </a:p>
          <a:p>
            <a:pPr algn="ctr">
              <a:lnSpc>
                <a:spcPts val="2898"/>
              </a:lnSpc>
            </a:pPr>
            <a:r>
              <a:rPr lang="en-US" sz="2070">
                <a:solidFill>
                  <a:srgbClr val="FFFFFF"/>
                </a:solidFill>
                <a:latin typeface="Montserrat"/>
                <a:ea typeface="Montserrat"/>
                <a:cs typeface="Montserrat"/>
                <a:sym typeface="Montserrat"/>
              </a:rPr>
              <a:t>11th Gen Intel(R) Core(TM) i3-1125G4 @ </a:t>
            </a:r>
          </a:p>
          <a:p>
            <a:pPr algn="ctr">
              <a:lnSpc>
                <a:spcPts val="2898"/>
              </a:lnSpc>
            </a:pPr>
            <a:r>
              <a:rPr lang="en-US" sz="2070">
                <a:solidFill>
                  <a:srgbClr val="FFFFFF"/>
                </a:solidFill>
                <a:latin typeface="Montserrat"/>
                <a:ea typeface="Montserrat"/>
                <a:cs typeface="Montserrat"/>
                <a:sym typeface="Montserrat"/>
              </a:rPr>
              <a:t>                                       2.00GHz 2.00 GHz </a:t>
            </a:r>
          </a:p>
          <a:p>
            <a:pPr algn="ctr">
              <a:lnSpc>
                <a:spcPts val="2898"/>
              </a:lnSpc>
            </a:pPr>
            <a:r>
              <a:rPr lang="en-US" sz="2070">
                <a:solidFill>
                  <a:srgbClr val="FFFFFF"/>
                </a:solidFill>
                <a:latin typeface="Montserrat"/>
                <a:ea typeface="Montserrat"/>
                <a:cs typeface="Montserrat"/>
                <a:sym typeface="Montserrat"/>
              </a:rPr>
              <a:t>                    </a:t>
            </a:r>
          </a:p>
          <a:p>
            <a:pPr algn="ctr">
              <a:lnSpc>
                <a:spcPts val="2758"/>
              </a:lnSpc>
              <a:spcBef>
                <a:spcPct val="0"/>
              </a:spcBef>
            </a:pPr>
            <a:endParaRPr lang="en-US" sz="2070">
              <a:solidFill>
                <a:srgbClr val="FFFFFF"/>
              </a:solidFill>
              <a:latin typeface="Montserrat"/>
              <a:ea typeface="Montserrat"/>
              <a:cs typeface="Montserrat"/>
              <a:sym typeface="Montserrat"/>
            </a:endParaRPr>
          </a:p>
        </p:txBody>
      </p:sp>
      <p:sp>
        <p:nvSpPr>
          <p:cNvPr id="18" name="TextBox 18"/>
          <p:cNvSpPr txBox="1"/>
          <p:nvPr/>
        </p:nvSpPr>
        <p:spPr>
          <a:xfrm>
            <a:off x="4368844" y="6376553"/>
            <a:ext cx="4421424" cy="2583661"/>
          </a:xfrm>
          <a:prstGeom prst="rect">
            <a:avLst/>
          </a:prstGeom>
        </p:spPr>
        <p:txBody>
          <a:bodyPr lIns="0" tIns="0" rIns="0" bIns="0" rtlCol="0" anchor="t">
            <a:spAutoFit/>
          </a:bodyPr>
          <a:lstStyle/>
          <a:p>
            <a:pPr algn="ctr">
              <a:lnSpc>
                <a:spcPts val="3508"/>
              </a:lnSpc>
            </a:pPr>
            <a:r>
              <a:rPr lang="en-US" sz="2506">
                <a:solidFill>
                  <a:srgbClr val="FFFFFF"/>
                </a:solidFill>
                <a:latin typeface="Montserrat"/>
                <a:ea typeface="Montserrat"/>
                <a:cs typeface="Montserrat"/>
                <a:sym typeface="Montserrat"/>
              </a:rPr>
              <a:t>       </a:t>
            </a:r>
            <a:r>
              <a:rPr lang="en-US" sz="2506">
                <a:solidFill>
                  <a:srgbClr val="FFFFFF"/>
                </a:solidFill>
                <a:latin typeface="Montserrat Bold"/>
                <a:ea typeface="Montserrat Bold"/>
                <a:cs typeface="Montserrat Bold"/>
                <a:sym typeface="Montserrat Bold"/>
              </a:rPr>
              <a:t>Installed RAM :</a:t>
            </a:r>
          </a:p>
          <a:p>
            <a:pPr algn="ctr">
              <a:lnSpc>
                <a:spcPts val="2898"/>
              </a:lnSpc>
            </a:pPr>
            <a:r>
              <a:rPr lang="en-US" sz="2070">
                <a:solidFill>
                  <a:srgbClr val="FFFFFF"/>
                </a:solidFill>
                <a:latin typeface="Montserrat"/>
                <a:ea typeface="Montserrat"/>
                <a:cs typeface="Montserrat"/>
                <a:sym typeface="Montserrat"/>
              </a:rPr>
              <a:t>8.00 GB (7.65 GB usable) </a:t>
            </a:r>
          </a:p>
          <a:p>
            <a:pPr algn="ctr">
              <a:lnSpc>
                <a:spcPts val="2898"/>
              </a:lnSpc>
            </a:pPr>
            <a:endParaRPr lang="en-US" sz="2070">
              <a:solidFill>
                <a:srgbClr val="FFFFFF"/>
              </a:solidFill>
              <a:latin typeface="Montserrat"/>
              <a:ea typeface="Montserrat"/>
              <a:cs typeface="Montserrat"/>
              <a:sym typeface="Montserrat"/>
            </a:endParaRPr>
          </a:p>
          <a:p>
            <a:pPr algn="ctr">
              <a:lnSpc>
                <a:spcPts val="3508"/>
              </a:lnSpc>
            </a:pPr>
            <a:r>
              <a:rPr lang="en-US" sz="2506">
                <a:solidFill>
                  <a:srgbClr val="FFFFFF"/>
                </a:solidFill>
                <a:latin typeface="Montserrat"/>
                <a:ea typeface="Montserrat"/>
                <a:cs typeface="Montserrat"/>
                <a:sym typeface="Montserrat"/>
              </a:rPr>
              <a:t>     </a:t>
            </a:r>
            <a:r>
              <a:rPr lang="en-US" sz="2506">
                <a:solidFill>
                  <a:srgbClr val="FFFFFF"/>
                </a:solidFill>
                <a:latin typeface="Montserrat Bold"/>
                <a:ea typeface="Montserrat Bold"/>
                <a:cs typeface="Montserrat Bold"/>
                <a:sym typeface="Montserrat Bold"/>
              </a:rPr>
              <a:t>System type </a:t>
            </a:r>
          </a:p>
          <a:p>
            <a:pPr algn="ctr">
              <a:lnSpc>
                <a:spcPts val="2528"/>
              </a:lnSpc>
            </a:pPr>
            <a:r>
              <a:rPr lang="en-US" sz="1806">
                <a:solidFill>
                  <a:srgbClr val="FFFFFF"/>
                </a:solidFill>
                <a:latin typeface="Montserrat"/>
                <a:ea typeface="Montserrat"/>
                <a:cs typeface="Montserrat"/>
                <a:sym typeface="Montserrat"/>
              </a:rPr>
              <a:t>64-bit operating system, x64-based</a:t>
            </a:r>
          </a:p>
          <a:p>
            <a:pPr algn="ctr">
              <a:lnSpc>
                <a:spcPts val="2898"/>
              </a:lnSpc>
            </a:pPr>
            <a:r>
              <a:rPr lang="en-US" sz="2070">
                <a:solidFill>
                  <a:srgbClr val="FFFFFF"/>
                </a:solidFill>
                <a:latin typeface="Montserrat"/>
                <a:ea typeface="Montserrat"/>
                <a:cs typeface="Montserrat"/>
                <a:sym typeface="Montserrat"/>
              </a:rPr>
              <a:t> processor </a:t>
            </a:r>
          </a:p>
          <a:p>
            <a:pPr algn="ctr">
              <a:lnSpc>
                <a:spcPts val="2528"/>
              </a:lnSpc>
              <a:spcBef>
                <a:spcPct val="0"/>
              </a:spcBef>
            </a:pPr>
            <a:endParaRPr lang="en-US" sz="2070">
              <a:solidFill>
                <a:srgbClr val="FFFFFF"/>
              </a:solidFill>
              <a:latin typeface="Montserrat"/>
              <a:ea typeface="Montserrat"/>
              <a:cs typeface="Montserrat"/>
              <a:sym typeface="Montserrat"/>
            </a:endParaRPr>
          </a:p>
        </p:txBody>
      </p:sp>
      <p:sp>
        <p:nvSpPr>
          <p:cNvPr id="19" name="TextBox 19"/>
          <p:cNvSpPr txBox="1"/>
          <p:nvPr/>
        </p:nvSpPr>
        <p:spPr>
          <a:xfrm>
            <a:off x="1977643" y="2605043"/>
            <a:ext cx="4782403" cy="695961"/>
          </a:xfrm>
          <a:prstGeom prst="rect">
            <a:avLst/>
          </a:prstGeom>
        </p:spPr>
        <p:txBody>
          <a:bodyPr lIns="0" tIns="0" rIns="0" bIns="0" rtlCol="0" anchor="t">
            <a:spAutoFit/>
          </a:bodyPr>
          <a:lstStyle/>
          <a:p>
            <a:pPr algn="ctr">
              <a:lnSpc>
                <a:spcPts val="5739"/>
              </a:lnSpc>
              <a:spcBef>
                <a:spcPct val="0"/>
              </a:spcBef>
            </a:pPr>
            <a:r>
              <a:rPr lang="en-US" sz="4099">
                <a:solidFill>
                  <a:srgbClr val="FFFFFF"/>
                </a:solidFill>
                <a:latin typeface="Montserrat Bold"/>
                <a:ea typeface="Montserrat Bold"/>
                <a:cs typeface="Montserrat Bold"/>
                <a:sym typeface="Montserrat Bold"/>
              </a:rPr>
              <a:t>HARDWARE</a:t>
            </a:r>
          </a:p>
        </p:txBody>
      </p:sp>
      <p:sp>
        <p:nvSpPr>
          <p:cNvPr id="20" name="TextBox 20"/>
          <p:cNvSpPr txBox="1"/>
          <p:nvPr/>
        </p:nvSpPr>
        <p:spPr>
          <a:xfrm>
            <a:off x="12218282" y="2605043"/>
            <a:ext cx="3162399" cy="695961"/>
          </a:xfrm>
          <a:prstGeom prst="rect">
            <a:avLst/>
          </a:prstGeom>
        </p:spPr>
        <p:txBody>
          <a:bodyPr lIns="0" tIns="0" rIns="0" bIns="0" rtlCol="0" anchor="t">
            <a:spAutoFit/>
          </a:bodyPr>
          <a:lstStyle/>
          <a:p>
            <a:pPr algn="ctr">
              <a:lnSpc>
                <a:spcPts val="5739"/>
              </a:lnSpc>
              <a:spcBef>
                <a:spcPct val="0"/>
              </a:spcBef>
            </a:pPr>
            <a:r>
              <a:rPr lang="en-US" sz="4099">
                <a:solidFill>
                  <a:srgbClr val="FFFFFF"/>
                </a:solidFill>
                <a:latin typeface="Montserrat Bold"/>
                <a:ea typeface="Montserrat Bold"/>
                <a:cs typeface="Montserrat Bold"/>
                <a:sym typeface="Montserrat Bold"/>
              </a:rPr>
              <a:t>SOFTWARE</a:t>
            </a:r>
          </a:p>
        </p:txBody>
      </p:sp>
      <p:sp>
        <p:nvSpPr>
          <p:cNvPr id="21" name="TextBox 21"/>
          <p:cNvSpPr txBox="1"/>
          <p:nvPr/>
        </p:nvSpPr>
        <p:spPr>
          <a:xfrm>
            <a:off x="9210675" y="6329149"/>
            <a:ext cx="4012294" cy="860425"/>
          </a:xfrm>
          <a:prstGeom prst="rect">
            <a:avLst/>
          </a:prstGeom>
        </p:spPr>
        <p:txBody>
          <a:bodyPr lIns="0" tIns="0" rIns="0" bIns="0" rtlCol="0" anchor="t">
            <a:spAutoFit/>
          </a:bodyPr>
          <a:lstStyle/>
          <a:p>
            <a:pPr algn="ctr">
              <a:lnSpc>
                <a:spcPts val="3500"/>
              </a:lnSpc>
              <a:spcBef>
                <a:spcPct val="0"/>
              </a:spcBef>
            </a:pPr>
            <a:r>
              <a:rPr lang="en-US" sz="2500">
                <a:solidFill>
                  <a:srgbClr val="FFFFFF"/>
                </a:solidFill>
                <a:latin typeface="Montserrat Bold"/>
                <a:ea typeface="Montserrat Bold"/>
                <a:cs typeface="Montserrat Bold"/>
                <a:sym typeface="Montserrat Bold"/>
              </a:rPr>
              <a:t>Programming languages:</a:t>
            </a:r>
          </a:p>
        </p:txBody>
      </p:sp>
      <p:sp>
        <p:nvSpPr>
          <p:cNvPr id="22" name="TextBox 22"/>
          <p:cNvSpPr txBox="1"/>
          <p:nvPr/>
        </p:nvSpPr>
        <p:spPr>
          <a:xfrm>
            <a:off x="9419643" y="8249753"/>
            <a:ext cx="3124936" cy="735838"/>
          </a:xfrm>
          <a:prstGeom prst="rect">
            <a:avLst/>
          </a:prstGeom>
        </p:spPr>
        <p:txBody>
          <a:bodyPr lIns="0" tIns="0" rIns="0" bIns="0" rtlCol="0" anchor="t">
            <a:spAutoFit/>
          </a:bodyPr>
          <a:lstStyle/>
          <a:p>
            <a:pPr algn="ctr">
              <a:lnSpc>
                <a:spcPts val="3499"/>
              </a:lnSpc>
            </a:pPr>
            <a:r>
              <a:rPr lang="en-US" sz="2499">
                <a:solidFill>
                  <a:srgbClr val="FFFFFF"/>
                </a:solidFill>
                <a:latin typeface="Montserrat Bold"/>
                <a:ea typeface="Montserrat Bold"/>
                <a:cs typeface="Montserrat Bold"/>
                <a:sym typeface="Montserrat Bold"/>
              </a:rPr>
              <a:t>Database:</a:t>
            </a:r>
          </a:p>
          <a:p>
            <a:pPr algn="ctr">
              <a:lnSpc>
                <a:spcPts val="2533"/>
              </a:lnSpc>
              <a:spcBef>
                <a:spcPct val="0"/>
              </a:spcBef>
            </a:pPr>
            <a:r>
              <a:rPr lang="en-US" sz="1809">
                <a:solidFill>
                  <a:srgbClr val="FFFFFF"/>
                </a:solidFill>
                <a:latin typeface="Montserrat"/>
                <a:ea typeface="Montserrat"/>
                <a:cs typeface="Montserrat"/>
                <a:sym typeface="Montserrat"/>
              </a:rPr>
              <a:t> MySQL, SQL Server </a:t>
            </a:r>
          </a:p>
        </p:txBody>
      </p:sp>
      <p:pic>
        <p:nvPicPr>
          <p:cNvPr id="24" name="Picture 23">
            <a:extLst>
              <a:ext uri="{FF2B5EF4-FFF2-40B4-BE49-F238E27FC236}">
                <a16:creationId xmlns:a16="http://schemas.microsoft.com/office/drawing/2014/main" id="{94341872-2A41-9608-8CE0-9F5C25C8B23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295400" y="4152900"/>
            <a:ext cx="1940821" cy="152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F806E"/>
        </a:solidFill>
        <a:effectLst/>
      </p:bgPr>
    </p:bg>
    <p:spTree>
      <p:nvGrpSpPr>
        <p:cNvPr id="1" name=""/>
        <p:cNvGrpSpPr/>
        <p:nvPr/>
      </p:nvGrpSpPr>
      <p:grpSpPr>
        <a:xfrm>
          <a:off x="0" y="0"/>
          <a:ext cx="0" cy="0"/>
          <a:chOff x="0" y="0"/>
          <a:chExt cx="0" cy="0"/>
        </a:xfrm>
      </p:grpSpPr>
      <p:sp>
        <p:nvSpPr>
          <p:cNvPr id="2" name="Freeform 2"/>
          <p:cNvSpPr/>
          <p:nvPr/>
        </p:nvSpPr>
        <p:spPr>
          <a:xfrm>
            <a:off x="5555435" y="694152"/>
            <a:ext cx="12034841" cy="9106793"/>
          </a:xfrm>
          <a:custGeom>
            <a:avLst/>
            <a:gdLst/>
            <a:ahLst/>
            <a:cxnLst/>
            <a:rect l="l" t="t" r="r" b="b"/>
            <a:pathLst>
              <a:path w="12034841" h="9106793">
                <a:moveTo>
                  <a:pt x="0" y="0"/>
                </a:moveTo>
                <a:lnTo>
                  <a:pt x="12034841" y="0"/>
                </a:lnTo>
                <a:lnTo>
                  <a:pt x="12034841" y="9106793"/>
                </a:lnTo>
                <a:lnTo>
                  <a:pt x="0" y="9106793"/>
                </a:lnTo>
                <a:lnTo>
                  <a:pt x="0" y="0"/>
                </a:lnTo>
                <a:close/>
              </a:path>
            </a:pathLst>
          </a:custGeom>
          <a:blipFill>
            <a:blip r:embed="rId2"/>
            <a:stretch>
              <a:fillRect l="-110" r="-110"/>
            </a:stretch>
          </a:blipFill>
        </p:spPr>
      </p:sp>
      <p:sp>
        <p:nvSpPr>
          <p:cNvPr id="3" name="TextBox 3"/>
          <p:cNvSpPr txBox="1"/>
          <p:nvPr/>
        </p:nvSpPr>
        <p:spPr>
          <a:xfrm>
            <a:off x="1028700" y="4331969"/>
            <a:ext cx="4166711" cy="811531"/>
          </a:xfrm>
          <a:prstGeom prst="rect">
            <a:avLst/>
          </a:prstGeom>
        </p:spPr>
        <p:txBody>
          <a:bodyPr lIns="0" tIns="0" rIns="0" bIns="0" rtlCol="0" anchor="t">
            <a:spAutoFit/>
          </a:bodyPr>
          <a:lstStyle/>
          <a:p>
            <a:pPr algn="ctr">
              <a:lnSpc>
                <a:spcPts val="6719"/>
              </a:lnSpc>
              <a:spcBef>
                <a:spcPct val="0"/>
              </a:spcBef>
            </a:pPr>
            <a:r>
              <a:rPr lang="en-US" sz="4799" u="sng">
                <a:solidFill>
                  <a:srgbClr val="000000"/>
                </a:solidFill>
                <a:latin typeface="Montserrat Bold"/>
                <a:ea typeface="Montserrat Bold"/>
                <a:cs typeface="Montserrat Bold"/>
                <a:sym typeface="Montserrat Bold"/>
              </a:rPr>
              <a:t>ER DIAGRAM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F806E"/>
        </a:solidFill>
        <a:effectLst/>
      </p:bgPr>
    </p:bg>
    <p:spTree>
      <p:nvGrpSpPr>
        <p:cNvPr id="1" name=""/>
        <p:cNvGrpSpPr/>
        <p:nvPr/>
      </p:nvGrpSpPr>
      <p:grpSpPr>
        <a:xfrm>
          <a:off x="0" y="0"/>
          <a:ext cx="0" cy="0"/>
          <a:chOff x="0" y="0"/>
          <a:chExt cx="0" cy="0"/>
        </a:xfrm>
      </p:grpSpPr>
      <p:sp>
        <p:nvSpPr>
          <p:cNvPr id="2" name="Freeform 2"/>
          <p:cNvSpPr/>
          <p:nvPr/>
        </p:nvSpPr>
        <p:spPr>
          <a:xfrm>
            <a:off x="3801486" y="3072089"/>
            <a:ext cx="10685028" cy="4142822"/>
          </a:xfrm>
          <a:custGeom>
            <a:avLst/>
            <a:gdLst/>
            <a:ahLst/>
            <a:cxnLst/>
            <a:rect l="l" t="t" r="r" b="b"/>
            <a:pathLst>
              <a:path w="10685028" h="4142822">
                <a:moveTo>
                  <a:pt x="0" y="0"/>
                </a:moveTo>
                <a:lnTo>
                  <a:pt x="10685028" y="0"/>
                </a:lnTo>
                <a:lnTo>
                  <a:pt x="10685028" y="4142822"/>
                </a:lnTo>
                <a:lnTo>
                  <a:pt x="0" y="4142822"/>
                </a:lnTo>
                <a:lnTo>
                  <a:pt x="0" y="0"/>
                </a:lnTo>
                <a:close/>
              </a:path>
            </a:pathLst>
          </a:custGeom>
          <a:blipFill>
            <a:blip r:embed="rId2"/>
            <a:stretch>
              <a:fillRect/>
            </a:stretch>
          </a:blipFill>
        </p:spPr>
      </p:sp>
      <p:sp>
        <p:nvSpPr>
          <p:cNvPr id="3" name="TextBox 3"/>
          <p:cNvSpPr txBox="1"/>
          <p:nvPr/>
        </p:nvSpPr>
        <p:spPr>
          <a:xfrm>
            <a:off x="6572994" y="1421733"/>
            <a:ext cx="5142012" cy="953137"/>
          </a:xfrm>
          <a:prstGeom prst="rect">
            <a:avLst/>
          </a:prstGeom>
        </p:spPr>
        <p:txBody>
          <a:bodyPr lIns="0" tIns="0" rIns="0" bIns="0" rtlCol="0" anchor="t">
            <a:spAutoFit/>
          </a:bodyPr>
          <a:lstStyle/>
          <a:p>
            <a:pPr algn="ctr">
              <a:lnSpc>
                <a:spcPts val="7839"/>
              </a:lnSpc>
              <a:spcBef>
                <a:spcPct val="0"/>
              </a:spcBef>
            </a:pPr>
            <a:r>
              <a:rPr lang="en-US" sz="5599" u="sng">
                <a:solidFill>
                  <a:srgbClr val="000000"/>
                </a:solidFill>
                <a:latin typeface="Montserrat Bold"/>
                <a:ea typeface="Montserrat Bold"/>
                <a:cs typeface="Montserrat Bold"/>
                <a:sym typeface="Montserrat Bold"/>
              </a:rPr>
              <a:t>DFD LEVEL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F806E"/>
        </a:solidFill>
        <a:effectLst/>
      </p:bgPr>
    </p:bg>
    <p:spTree>
      <p:nvGrpSpPr>
        <p:cNvPr id="1" name=""/>
        <p:cNvGrpSpPr/>
        <p:nvPr/>
      </p:nvGrpSpPr>
      <p:grpSpPr>
        <a:xfrm>
          <a:off x="0" y="0"/>
          <a:ext cx="0" cy="0"/>
          <a:chOff x="0" y="0"/>
          <a:chExt cx="0" cy="0"/>
        </a:xfrm>
      </p:grpSpPr>
      <p:sp>
        <p:nvSpPr>
          <p:cNvPr id="2" name="Freeform 2"/>
          <p:cNvSpPr/>
          <p:nvPr/>
        </p:nvSpPr>
        <p:spPr>
          <a:xfrm>
            <a:off x="1028700" y="104775"/>
            <a:ext cx="6323178" cy="9522686"/>
          </a:xfrm>
          <a:custGeom>
            <a:avLst/>
            <a:gdLst/>
            <a:ahLst/>
            <a:cxnLst/>
            <a:rect l="l" t="t" r="r" b="b"/>
            <a:pathLst>
              <a:path w="6323178" h="9522686">
                <a:moveTo>
                  <a:pt x="0" y="0"/>
                </a:moveTo>
                <a:lnTo>
                  <a:pt x="6323178" y="0"/>
                </a:lnTo>
                <a:lnTo>
                  <a:pt x="6323178" y="9522686"/>
                </a:lnTo>
                <a:lnTo>
                  <a:pt x="0" y="9522686"/>
                </a:lnTo>
                <a:lnTo>
                  <a:pt x="0" y="0"/>
                </a:lnTo>
                <a:close/>
              </a:path>
            </a:pathLst>
          </a:custGeom>
          <a:blipFill>
            <a:blip r:embed="rId2"/>
            <a:stretch>
              <a:fillRect l="-2619" t="-964" b="-964"/>
            </a:stretch>
          </a:blipFill>
        </p:spPr>
      </p:sp>
      <p:sp>
        <p:nvSpPr>
          <p:cNvPr id="3" name="TextBox 3"/>
          <p:cNvSpPr txBox="1"/>
          <p:nvPr/>
        </p:nvSpPr>
        <p:spPr>
          <a:xfrm>
            <a:off x="10331709" y="3661271"/>
            <a:ext cx="5091928" cy="953137"/>
          </a:xfrm>
          <a:prstGeom prst="rect">
            <a:avLst/>
          </a:prstGeom>
        </p:spPr>
        <p:txBody>
          <a:bodyPr lIns="0" tIns="0" rIns="0" bIns="0" rtlCol="0" anchor="t">
            <a:spAutoFit/>
          </a:bodyPr>
          <a:lstStyle/>
          <a:p>
            <a:pPr algn="ctr">
              <a:lnSpc>
                <a:spcPts val="7839"/>
              </a:lnSpc>
              <a:spcBef>
                <a:spcPct val="0"/>
              </a:spcBef>
            </a:pPr>
            <a:r>
              <a:rPr lang="en-US" sz="5599" u="sng">
                <a:solidFill>
                  <a:srgbClr val="000000"/>
                </a:solidFill>
                <a:latin typeface="Montserrat Bold"/>
                <a:ea typeface="Montserrat Bold"/>
                <a:cs typeface="Montserrat Bold"/>
                <a:sym typeface="Montserrat Bold"/>
              </a:rPr>
              <a:t>DFD LEVEL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8F806E"/>
        </a:solidFill>
        <a:effectLst/>
      </p:bgPr>
    </p:bg>
    <p:spTree>
      <p:nvGrpSpPr>
        <p:cNvPr id="1" name=""/>
        <p:cNvGrpSpPr/>
        <p:nvPr/>
      </p:nvGrpSpPr>
      <p:grpSpPr>
        <a:xfrm>
          <a:off x="0" y="0"/>
          <a:ext cx="0" cy="0"/>
          <a:chOff x="0" y="0"/>
          <a:chExt cx="0" cy="0"/>
        </a:xfrm>
      </p:grpSpPr>
      <p:sp>
        <p:nvSpPr>
          <p:cNvPr id="2" name="Freeform 2"/>
          <p:cNvSpPr/>
          <p:nvPr/>
        </p:nvSpPr>
        <p:spPr>
          <a:xfrm>
            <a:off x="4579786" y="193059"/>
            <a:ext cx="13436726" cy="9197576"/>
          </a:xfrm>
          <a:custGeom>
            <a:avLst/>
            <a:gdLst/>
            <a:ahLst/>
            <a:cxnLst/>
            <a:rect l="l" t="t" r="r" b="b"/>
            <a:pathLst>
              <a:path w="13436726" h="9197576">
                <a:moveTo>
                  <a:pt x="0" y="0"/>
                </a:moveTo>
                <a:lnTo>
                  <a:pt x="13436726" y="0"/>
                </a:lnTo>
                <a:lnTo>
                  <a:pt x="13436726" y="9197576"/>
                </a:lnTo>
                <a:lnTo>
                  <a:pt x="0" y="9197576"/>
                </a:lnTo>
                <a:lnTo>
                  <a:pt x="0" y="0"/>
                </a:lnTo>
                <a:close/>
              </a:path>
            </a:pathLst>
          </a:custGeom>
          <a:blipFill>
            <a:blip r:embed="rId2"/>
            <a:stretch>
              <a:fillRect/>
            </a:stretch>
          </a:blipFill>
        </p:spPr>
      </p:sp>
      <p:sp>
        <p:nvSpPr>
          <p:cNvPr id="3" name="TextBox 3"/>
          <p:cNvSpPr txBox="1"/>
          <p:nvPr/>
        </p:nvSpPr>
        <p:spPr>
          <a:xfrm>
            <a:off x="601241" y="3925905"/>
            <a:ext cx="3532417" cy="1775461"/>
          </a:xfrm>
          <a:prstGeom prst="rect">
            <a:avLst/>
          </a:prstGeom>
        </p:spPr>
        <p:txBody>
          <a:bodyPr lIns="0" tIns="0" rIns="0" bIns="0" rtlCol="0" anchor="t">
            <a:spAutoFit/>
          </a:bodyPr>
          <a:lstStyle/>
          <a:p>
            <a:pPr algn="ctr">
              <a:lnSpc>
                <a:spcPts val="7139"/>
              </a:lnSpc>
              <a:spcBef>
                <a:spcPct val="0"/>
              </a:spcBef>
            </a:pPr>
            <a:r>
              <a:rPr lang="en-US" sz="5099" u="sng">
                <a:solidFill>
                  <a:srgbClr val="000000"/>
                </a:solidFill>
                <a:latin typeface="Montserrat Bold"/>
                <a:ea typeface="Montserrat Bold"/>
                <a:cs typeface="Montserrat Bold"/>
                <a:sym typeface="Montserrat Bold"/>
              </a:rPr>
              <a:t>TABLE DESIGN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F806E"/>
        </a:solidFill>
        <a:effectLst/>
      </p:bgPr>
    </p:bg>
    <p:spTree>
      <p:nvGrpSpPr>
        <p:cNvPr id="1" name=""/>
        <p:cNvGrpSpPr/>
        <p:nvPr/>
      </p:nvGrpSpPr>
      <p:grpSpPr>
        <a:xfrm>
          <a:off x="0" y="0"/>
          <a:ext cx="0" cy="0"/>
          <a:chOff x="0" y="0"/>
          <a:chExt cx="0" cy="0"/>
        </a:xfrm>
      </p:grpSpPr>
      <p:sp>
        <p:nvSpPr>
          <p:cNvPr id="2" name="TextBox 2"/>
          <p:cNvSpPr txBox="1"/>
          <p:nvPr/>
        </p:nvSpPr>
        <p:spPr>
          <a:xfrm>
            <a:off x="601241" y="3925905"/>
            <a:ext cx="3532417" cy="1775461"/>
          </a:xfrm>
          <a:prstGeom prst="rect">
            <a:avLst/>
          </a:prstGeom>
        </p:spPr>
        <p:txBody>
          <a:bodyPr lIns="0" tIns="0" rIns="0" bIns="0" rtlCol="0" anchor="t">
            <a:spAutoFit/>
          </a:bodyPr>
          <a:lstStyle/>
          <a:p>
            <a:pPr algn="ctr">
              <a:lnSpc>
                <a:spcPts val="7139"/>
              </a:lnSpc>
              <a:spcBef>
                <a:spcPct val="0"/>
              </a:spcBef>
            </a:pPr>
            <a:r>
              <a:rPr lang="en-US" sz="5099" u="sng">
                <a:solidFill>
                  <a:srgbClr val="000000"/>
                </a:solidFill>
                <a:latin typeface="Montserrat Bold"/>
                <a:ea typeface="Montserrat Bold"/>
                <a:cs typeface="Montserrat Bold"/>
                <a:sym typeface="Montserrat Bold"/>
              </a:rPr>
              <a:t>TABLE DESIGN</a:t>
            </a:r>
          </a:p>
        </p:txBody>
      </p:sp>
      <p:sp>
        <p:nvSpPr>
          <p:cNvPr id="3" name="Freeform 3"/>
          <p:cNvSpPr/>
          <p:nvPr/>
        </p:nvSpPr>
        <p:spPr>
          <a:xfrm>
            <a:off x="6120381" y="176742"/>
            <a:ext cx="11771190" cy="9583113"/>
          </a:xfrm>
          <a:custGeom>
            <a:avLst/>
            <a:gdLst/>
            <a:ahLst/>
            <a:cxnLst/>
            <a:rect l="l" t="t" r="r" b="b"/>
            <a:pathLst>
              <a:path w="11771190" h="9583113">
                <a:moveTo>
                  <a:pt x="0" y="0"/>
                </a:moveTo>
                <a:lnTo>
                  <a:pt x="11771190" y="0"/>
                </a:lnTo>
                <a:lnTo>
                  <a:pt x="11771190" y="9583113"/>
                </a:lnTo>
                <a:lnTo>
                  <a:pt x="0" y="9583113"/>
                </a:lnTo>
                <a:lnTo>
                  <a:pt x="0" y="0"/>
                </a:lnTo>
                <a:close/>
              </a:path>
            </a:pathLst>
          </a:custGeom>
          <a:blipFill>
            <a:blip r:embed="rId2"/>
            <a:stretch>
              <a:fillRect t="-603" b="-603"/>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F806E"/>
        </a:solidFill>
        <a:effectLst/>
      </p:bgPr>
    </p:bg>
    <p:spTree>
      <p:nvGrpSpPr>
        <p:cNvPr id="1" name=""/>
        <p:cNvGrpSpPr/>
        <p:nvPr/>
      </p:nvGrpSpPr>
      <p:grpSpPr>
        <a:xfrm>
          <a:off x="0" y="0"/>
          <a:ext cx="0" cy="0"/>
          <a:chOff x="0" y="0"/>
          <a:chExt cx="0" cy="0"/>
        </a:xfrm>
      </p:grpSpPr>
      <p:sp>
        <p:nvSpPr>
          <p:cNvPr id="2" name="Freeform 2"/>
          <p:cNvSpPr/>
          <p:nvPr/>
        </p:nvSpPr>
        <p:spPr>
          <a:xfrm>
            <a:off x="4938904" y="149650"/>
            <a:ext cx="12857741" cy="9720276"/>
          </a:xfrm>
          <a:custGeom>
            <a:avLst/>
            <a:gdLst/>
            <a:ahLst/>
            <a:cxnLst/>
            <a:rect l="l" t="t" r="r" b="b"/>
            <a:pathLst>
              <a:path w="12857741" h="9720276">
                <a:moveTo>
                  <a:pt x="0" y="0"/>
                </a:moveTo>
                <a:lnTo>
                  <a:pt x="12857741" y="0"/>
                </a:lnTo>
                <a:lnTo>
                  <a:pt x="12857741" y="9720276"/>
                </a:lnTo>
                <a:lnTo>
                  <a:pt x="0" y="9720276"/>
                </a:lnTo>
                <a:lnTo>
                  <a:pt x="0" y="0"/>
                </a:lnTo>
                <a:close/>
              </a:path>
            </a:pathLst>
          </a:custGeom>
          <a:blipFill>
            <a:blip r:embed="rId2"/>
            <a:stretch>
              <a:fillRect/>
            </a:stretch>
          </a:blipFill>
        </p:spPr>
      </p:sp>
      <p:sp>
        <p:nvSpPr>
          <p:cNvPr id="3" name="TextBox 3"/>
          <p:cNvSpPr txBox="1"/>
          <p:nvPr/>
        </p:nvSpPr>
        <p:spPr>
          <a:xfrm>
            <a:off x="601241" y="3925905"/>
            <a:ext cx="3532417" cy="1775461"/>
          </a:xfrm>
          <a:prstGeom prst="rect">
            <a:avLst/>
          </a:prstGeom>
        </p:spPr>
        <p:txBody>
          <a:bodyPr lIns="0" tIns="0" rIns="0" bIns="0" rtlCol="0" anchor="t">
            <a:spAutoFit/>
          </a:bodyPr>
          <a:lstStyle/>
          <a:p>
            <a:pPr algn="ctr">
              <a:lnSpc>
                <a:spcPts val="7139"/>
              </a:lnSpc>
              <a:spcBef>
                <a:spcPct val="0"/>
              </a:spcBef>
            </a:pPr>
            <a:r>
              <a:rPr lang="en-US" sz="5099" u="sng">
                <a:solidFill>
                  <a:srgbClr val="000000"/>
                </a:solidFill>
                <a:latin typeface="Montserrat Bold"/>
                <a:ea typeface="Montserrat Bold"/>
                <a:cs typeface="Montserrat Bold"/>
                <a:sym typeface="Montserrat Bold"/>
              </a:rPr>
              <a:t>TABLE DESIGN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AE3D6"/>
        </a:solidFill>
        <a:effectLst/>
      </p:bgPr>
    </p:bg>
    <p:spTree>
      <p:nvGrpSpPr>
        <p:cNvPr id="1" name=""/>
        <p:cNvGrpSpPr/>
        <p:nvPr/>
      </p:nvGrpSpPr>
      <p:grpSpPr>
        <a:xfrm>
          <a:off x="0" y="0"/>
          <a:ext cx="0" cy="0"/>
          <a:chOff x="0" y="0"/>
          <a:chExt cx="0" cy="0"/>
        </a:xfrm>
      </p:grpSpPr>
      <p:sp>
        <p:nvSpPr>
          <p:cNvPr id="2" name="Freeform 2"/>
          <p:cNvSpPr/>
          <p:nvPr/>
        </p:nvSpPr>
        <p:spPr>
          <a:xfrm>
            <a:off x="9606995" y="0"/>
            <a:ext cx="8115300" cy="5143500"/>
          </a:xfrm>
          <a:custGeom>
            <a:avLst/>
            <a:gdLst/>
            <a:ahLst/>
            <a:cxnLst/>
            <a:rect l="l" t="t" r="r" b="b"/>
            <a:pathLst>
              <a:path w="8115300" h="5143500">
                <a:moveTo>
                  <a:pt x="0" y="0"/>
                </a:moveTo>
                <a:lnTo>
                  <a:pt x="8115300" y="0"/>
                </a:lnTo>
                <a:lnTo>
                  <a:pt x="8115300" y="5143500"/>
                </a:lnTo>
                <a:lnTo>
                  <a:pt x="0" y="5143500"/>
                </a:lnTo>
                <a:lnTo>
                  <a:pt x="0" y="0"/>
                </a:lnTo>
                <a:close/>
              </a:path>
            </a:pathLst>
          </a:custGeom>
          <a:blipFill>
            <a:blip r:embed="rId2"/>
            <a:stretch>
              <a:fillRect l="-2338" r="-2338"/>
            </a:stretch>
          </a:blipFill>
        </p:spPr>
      </p:sp>
      <p:sp>
        <p:nvSpPr>
          <p:cNvPr id="3" name="Freeform 3"/>
          <p:cNvSpPr/>
          <p:nvPr/>
        </p:nvSpPr>
        <p:spPr>
          <a:xfrm>
            <a:off x="9606995" y="5185093"/>
            <a:ext cx="8115300" cy="5143500"/>
          </a:xfrm>
          <a:custGeom>
            <a:avLst/>
            <a:gdLst/>
            <a:ahLst/>
            <a:cxnLst/>
            <a:rect l="l" t="t" r="r" b="b"/>
            <a:pathLst>
              <a:path w="8115300" h="5143500">
                <a:moveTo>
                  <a:pt x="0" y="0"/>
                </a:moveTo>
                <a:lnTo>
                  <a:pt x="8115300" y="0"/>
                </a:lnTo>
                <a:lnTo>
                  <a:pt x="8115300" y="5143500"/>
                </a:lnTo>
                <a:lnTo>
                  <a:pt x="0" y="5143500"/>
                </a:lnTo>
                <a:lnTo>
                  <a:pt x="0" y="0"/>
                </a:lnTo>
                <a:close/>
              </a:path>
            </a:pathLst>
          </a:custGeom>
          <a:blipFill>
            <a:blip r:embed="rId3"/>
            <a:stretch>
              <a:fillRect l="-5600" t="-9554" r="-5600"/>
            </a:stretch>
          </a:blipFill>
        </p:spPr>
      </p:sp>
      <p:grpSp>
        <p:nvGrpSpPr>
          <p:cNvPr id="4" name="Group 4"/>
          <p:cNvGrpSpPr/>
          <p:nvPr/>
        </p:nvGrpSpPr>
        <p:grpSpPr>
          <a:xfrm>
            <a:off x="1028700" y="1028700"/>
            <a:ext cx="7280345" cy="3087053"/>
            <a:chOff x="0" y="0"/>
            <a:chExt cx="9707127" cy="4116070"/>
          </a:xfrm>
        </p:grpSpPr>
        <p:sp>
          <p:nvSpPr>
            <p:cNvPr id="5" name="TextBox 5"/>
            <p:cNvSpPr txBox="1"/>
            <p:nvPr/>
          </p:nvSpPr>
          <p:spPr>
            <a:xfrm>
              <a:off x="0" y="0"/>
              <a:ext cx="9707127" cy="2438400"/>
            </a:xfrm>
            <a:prstGeom prst="rect">
              <a:avLst/>
            </a:prstGeom>
          </p:spPr>
          <p:txBody>
            <a:bodyPr lIns="0" tIns="0" rIns="0" bIns="0" rtlCol="0" anchor="t">
              <a:spAutoFit/>
            </a:bodyPr>
            <a:lstStyle/>
            <a:p>
              <a:pPr algn="r">
                <a:lnSpc>
                  <a:spcPts val="14400"/>
                </a:lnSpc>
              </a:pPr>
              <a:endParaRPr/>
            </a:p>
          </p:txBody>
        </p:sp>
        <p:sp>
          <p:nvSpPr>
            <p:cNvPr id="6" name="TextBox 6"/>
            <p:cNvSpPr txBox="1"/>
            <p:nvPr/>
          </p:nvSpPr>
          <p:spPr>
            <a:xfrm>
              <a:off x="0" y="2553970"/>
              <a:ext cx="9707127" cy="1562100"/>
            </a:xfrm>
            <a:prstGeom prst="rect">
              <a:avLst/>
            </a:prstGeom>
          </p:spPr>
          <p:txBody>
            <a:bodyPr lIns="0" tIns="0" rIns="0" bIns="0" rtlCol="0" anchor="t">
              <a:spAutoFit/>
            </a:bodyPr>
            <a:lstStyle/>
            <a:p>
              <a:pPr algn="r">
                <a:lnSpc>
                  <a:spcPts val="9241"/>
                </a:lnSpc>
              </a:pPr>
              <a:endParaRPr/>
            </a:p>
          </p:txBody>
        </p:sp>
      </p:grpSp>
      <p:sp>
        <p:nvSpPr>
          <p:cNvPr id="7" name="TextBox 7"/>
          <p:cNvSpPr txBox="1"/>
          <p:nvPr/>
        </p:nvSpPr>
        <p:spPr>
          <a:xfrm>
            <a:off x="371851" y="664514"/>
            <a:ext cx="7280345" cy="1368424"/>
          </a:xfrm>
          <a:prstGeom prst="rect">
            <a:avLst/>
          </a:prstGeom>
        </p:spPr>
        <p:txBody>
          <a:bodyPr lIns="0" tIns="0" rIns="0" bIns="0" rtlCol="0" anchor="t">
            <a:spAutoFit/>
          </a:bodyPr>
          <a:lstStyle/>
          <a:p>
            <a:pPr algn="ctr">
              <a:lnSpc>
                <a:spcPts val="11200"/>
              </a:lnSpc>
              <a:spcBef>
                <a:spcPct val="0"/>
              </a:spcBef>
            </a:pPr>
            <a:r>
              <a:rPr lang="en-US" sz="8000">
                <a:solidFill>
                  <a:srgbClr val="000000"/>
                </a:solidFill>
                <a:latin typeface="Montserrat Bold"/>
                <a:ea typeface="Montserrat Bold"/>
                <a:cs typeface="Montserrat Bold"/>
                <a:sym typeface="Montserrat Bold"/>
              </a:rPr>
              <a:t>CONCLUSION</a:t>
            </a:r>
          </a:p>
        </p:txBody>
      </p:sp>
      <p:sp>
        <p:nvSpPr>
          <p:cNvPr id="8" name="TextBox 8"/>
          <p:cNvSpPr txBox="1"/>
          <p:nvPr/>
        </p:nvSpPr>
        <p:spPr>
          <a:xfrm>
            <a:off x="371851" y="2714625"/>
            <a:ext cx="8594043" cy="4874260"/>
          </a:xfrm>
          <a:prstGeom prst="rect">
            <a:avLst/>
          </a:prstGeom>
        </p:spPr>
        <p:txBody>
          <a:bodyPr lIns="0" tIns="0" rIns="0" bIns="0" rtlCol="0" anchor="t">
            <a:spAutoFit/>
          </a:bodyPr>
          <a:lstStyle/>
          <a:p>
            <a:pPr algn="l">
              <a:lnSpc>
                <a:spcPts val="4339"/>
              </a:lnSpc>
              <a:spcBef>
                <a:spcPct val="0"/>
              </a:spcBef>
            </a:pPr>
            <a:r>
              <a:rPr lang="en-US" sz="3099">
                <a:solidFill>
                  <a:srgbClr val="000000"/>
                </a:solidFill>
                <a:latin typeface="Montserrat"/>
                <a:ea typeface="Montserrat"/>
                <a:cs typeface="Montserrat"/>
                <a:sym typeface="Montserrat"/>
              </a:rPr>
              <a:t>The proposed integrated management system will significantly enhance the operations of the orphanage and elder care facility by streamlining processes, improving data management, and providing valuable insights. By addressing the limitations of manual systems, this solution will contribute to the overall well-being of residents and staff.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638</Words>
  <Application>Microsoft Office PowerPoint</Application>
  <PresentationFormat>Custom</PresentationFormat>
  <Paragraphs>81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Montserrat Semi-Bold</vt:lpstr>
      <vt:lpstr>Arial</vt:lpstr>
      <vt:lpstr>Calibri</vt:lpstr>
      <vt:lpstr>Montserrat Bold</vt:lpstr>
      <vt:lpstr>Montserrat Medium</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SERENITY ORPHANAGE AND ELDER CARE FACILITY</dc:title>
  <cp:lastModifiedBy>Swapna Nair</cp:lastModifiedBy>
  <cp:revision>2</cp:revision>
  <dcterms:created xsi:type="dcterms:W3CDTF">2006-08-16T00:00:00Z</dcterms:created>
  <dcterms:modified xsi:type="dcterms:W3CDTF">2024-08-16T05:12:04Z</dcterms:modified>
  <dc:identifier>DAGNv256Q1k</dc:identifier>
</cp:coreProperties>
</file>