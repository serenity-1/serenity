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Bold" charset="1" panose="00000800000000000000"/>
      <p:regular r:id="rId16"/>
    </p:embeddedFont>
    <p:embeddedFont>
      <p:font typeface="Montserrat"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8.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14964"/>
        </a:solidFill>
      </p:bgPr>
    </p:bg>
    <p:spTree>
      <p:nvGrpSpPr>
        <p:cNvPr id="1" name=""/>
        <p:cNvGrpSpPr/>
        <p:nvPr/>
      </p:nvGrpSpPr>
      <p:grpSpPr>
        <a:xfrm>
          <a:off x="0" y="0"/>
          <a:ext cx="0" cy="0"/>
          <a:chOff x="0" y="0"/>
          <a:chExt cx="0" cy="0"/>
        </a:xfrm>
      </p:grpSpPr>
      <p:grpSp>
        <p:nvGrpSpPr>
          <p:cNvPr name="Group 2" id="2"/>
          <p:cNvGrpSpPr/>
          <p:nvPr/>
        </p:nvGrpSpPr>
        <p:grpSpPr>
          <a:xfrm rot="0">
            <a:off x="10314255" y="1028700"/>
            <a:ext cx="7195076" cy="6042406"/>
            <a:chOff x="0" y="0"/>
            <a:chExt cx="9593435" cy="8056542"/>
          </a:xfrm>
        </p:grpSpPr>
        <p:pic>
          <p:nvPicPr>
            <p:cNvPr name="Picture 3" id="3"/>
            <p:cNvPicPr>
              <a:picLocks noChangeAspect="true"/>
            </p:cNvPicPr>
            <p:nvPr/>
          </p:nvPicPr>
          <p:blipFill>
            <a:blip r:embed="rId2"/>
            <a:srcRect l="1029" t="0" r="1029" b="0"/>
            <a:stretch>
              <a:fillRect/>
            </a:stretch>
          </p:blipFill>
          <p:spPr>
            <a:xfrm flipH="false" flipV="false">
              <a:off x="0" y="0"/>
              <a:ext cx="9593435" cy="8056542"/>
            </a:xfrm>
            <a:prstGeom prst="rect">
              <a:avLst/>
            </a:prstGeom>
          </p:spPr>
        </p:pic>
      </p:grpSp>
      <p:sp>
        <p:nvSpPr>
          <p:cNvPr name="AutoShape 4" id="4"/>
          <p:cNvSpPr/>
          <p:nvPr/>
        </p:nvSpPr>
        <p:spPr>
          <a:xfrm rot="0">
            <a:off x="1031069" y="9182522"/>
            <a:ext cx="4232004" cy="0"/>
          </a:xfrm>
          <a:prstGeom prst="line">
            <a:avLst/>
          </a:prstGeom>
          <a:ln cap="rnd" w="9525">
            <a:solidFill>
              <a:srgbClr val="EAE3D6"/>
            </a:solidFill>
            <a:prstDash val="solid"/>
            <a:headEnd type="none" len="sm" w="sm"/>
            <a:tailEnd type="none" len="sm" w="sm"/>
          </a:ln>
        </p:spPr>
      </p:sp>
      <p:sp>
        <p:nvSpPr>
          <p:cNvPr name="Freeform 5" id="5"/>
          <p:cNvSpPr/>
          <p:nvPr/>
        </p:nvSpPr>
        <p:spPr>
          <a:xfrm flipH="false" flipV="false" rot="0">
            <a:off x="-487534" y="-1463169"/>
            <a:ext cx="5513072" cy="5513072"/>
          </a:xfrm>
          <a:custGeom>
            <a:avLst/>
            <a:gdLst/>
            <a:ahLst/>
            <a:cxnLst/>
            <a:rect r="r" b="b" t="t" l="l"/>
            <a:pathLst>
              <a:path h="5513072" w="5513072">
                <a:moveTo>
                  <a:pt x="0" y="0"/>
                </a:moveTo>
                <a:lnTo>
                  <a:pt x="5513072" y="0"/>
                </a:lnTo>
                <a:lnTo>
                  <a:pt x="5513072" y="5513072"/>
                </a:lnTo>
                <a:lnTo>
                  <a:pt x="0" y="5513072"/>
                </a:lnTo>
                <a:lnTo>
                  <a:pt x="0" y="0"/>
                </a:lnTo>
                <a:close/>
              </a:path>
            </a:pathLst>
          </a:custGeom>
          <a:blipFill>
            <a:blip r:embed="rId3"/>
            <a:stretch>
              <a:fillRect l="0" t="0" r="0" b="0"/>
            </a:stretch>
          </a:blipFill>
        </p:spPr>
      </p:sp>
      <p:sp>
        <p:nvSpPr>
          <p:cNvPr name="TextBox 6" id="6"/>
          <p:cNvSpPr txBox="true"/>
          <p:nvPr/>
        </p:nvSpPr>
        <p:spPr>
          <a:xfrm rot="0">
            <a:off x="556808" y="1982978"/>
            <a:ext cx="8937459" cy="4143375"/>
          </a:xfrm>
          <a:prstGeom prst="rect">
            <a:avLst/>
          </a:prstGeom>
        </p:spPr>
        <p:txBody>
          <a:bodyPr anchor="t" rtlCol="false" tIns="0" lIns="0" bIns="0" rIns="0">
            <a:spAutoFit/>
          </a:bodyPr>
          <a:lstStyle/>
          <a:p>
            <a:pPr algn="l">
              <a:lnSpc>
                <a:spcPts val="11160"/>
              </a:lnSpc>
            </a:pPr>
            <a:r>
              <a:rPr lang="en-US" sz="9300" b="true">
                <a:solidFill>
                  <a:srgbClr val="FFFFFF"/>
                </a:solidFill>
                <a:latin typeface="Montserrat Bold"/>
                <a:ea typeface="Montserrat Bold"/>
                <a:cs typeface="Montserrat Bold"/>
                <a:sym typeface="Montserrat Bold"/>
              </a:rPr>
              <a:t>SERENITY FOUNDATION </a:t>
            </a:r>
          </a:p>
          <a:p>
            <a:pPr algn="ctr">
              <a:lnSpc>
                <a:spcPts val="10560"/>
              </a:lnSpc>
              <a:spcBef>
                <a:spcPct val="0"/>
              </a:spcBef>
            </a:pPr>
          </a:p>
        </p:txBody>
      </p:sp>
      <p:sp>
        <p:nvSpPr>
          <p:cNvPr name="TextBox 7" id="7"/>
          <p:cNvSpPr txBox="true"/>
          <p:nvPr/>
        </p:nvSpPr>
        <p:spPr>
          <a:xfrm rot="0">
            <a:off x="556808" y="7450511"/>
            <a:ext cx="5436096" cy="1952625"/>
          </a:xfrm>
          <a:prstGeom prst="rect">
            <a:avLst/>
          </a:prstGeom>
        </p:spPr>
        <p:txBody>
          <a:bodyPr anchor="t" rtlCol="false" tIns="0" lIns="0" bIns="0" rIns="0">
            <a:spAutoFit/>
          </a:bodyPr>
          <a:lstStyle/>
          <a:p>
            <a:pPr algn="ctr">
              <a:lnSpc>
                <a:spcPts val="3120"/>
              </a:lnSpc>
            </a:pPr>
            <a:r>
              <a:rPr lang="en-US" sz="2600">
                <a:solidFill>
                  <a:srgbClr val="FFFFFF"/>
                </a:solidFill>
                <a:latin typeface="Montserrat"/>
                <a:ea typeface="Montserrat"/>
                <a:cs typeface="Montserrat"/>
                <a:sym typeface="Montserrat"/>
              </a:rPr>
              <a:t>PREPARED BY-</a:t>
            </a:r>
          </a:p>
          <a:p>
            <a:pPr algn="ctr">
              <a:lnSpc>
                <a:spcPts val="3120"/>
              </a:lnSpc>
            </a:pPr>
            <a:r>
              <a:rPr lang="en-US" sz="2600">
                <a:solidFill>
                  <a:srgbClr val="FFFFFF"/>
                </a:solidFill>
                <a:latin typeface="Montserrat"/>
                <a:ea typeface="Montserrat"/>
                <a:cs typeface="Montserrat"/>
                <a:sym typeface="Montserrat"/>
              </a:rPr>
              <a:t>NAIR SWAPNA SASIDHARAN(62)</a:t>
            </a:r>
          </a:p>
          <a:p>
            <a:pPr algn="ctr">
              <a:lnSpc>
                <a:spcPts val="3120"/>
              </a:lnSpc>
            </a:pPr>
            <a:r>
              <a:rPr lang="en-US" sz="2600">
                <a:solidFill>
                  <a:srgbClr val="FFFFFF"/>
                </a:solidFill>
                <a:latin typeface="Montserrat"/>
                <a:ea typeface="Montserrat"/>
                <a:cs typeface="Montserrat"/>
                <a:sym typeface="Montserrat"/>
              </a:rPr>
              <a:t>AKSHAYAPOOJA A P(14)</a:t>
            </a:r>
          </a:p>
          <a:p>
            <a:pPr algn="ctr">
              <a:lnSpc>
                <a:spcPts val="3120"/>
              </a:lnSpc>
            </a:pPr>
            <a:r>
              <a:rPr lang="en-US" sz="2600">
                <a:solidFill>
                  <a:srgbClr val="FFFFFF"/>
                </a:solidFill>
                <a:latin typeface="Montserrat"/>
                <a:ea typeface="Montserrat"/>
                <a:cs typeface="Montserrat"/>
                <a:sym typeface="Montserrat"/>
              </a:rPr>
              <a:t>PARVATHY S NAIR(76)</a:t>
            </a:r>
          </a:p>
          <a:p>
            <a:pPr algn="ctr">
              <a:lnSpc>
                <a:spcPts val="3120"/>
              </a:lnSpc>
              <a:spcBef>
                <a:spcPct val="0"/>
              </a:spcBef>
            </a:pPr>
          </a:p>
        </p:txBody>
      </p:sp>
      <p:sp>
        <p:nvSpPr>
          <p:cNvPr name="TextBox 8" id="8"/>
          <p:cNvSpPr txBox="true"/>
          <p:nvPr/>
        </p:nvSpPr>
        <p:spPr>
          <a:xfrm rot="0">
            <a:off x="15003363" y="8436349"/>
            <a:ext cx="2255937" cy="1247775"/>
          </a:xfrm>
          <a:prstGeom prst="rect">
            <a:avLst/>
          </a:prstGeom>
        </p:spPr>
        <p:txBody>
          <a:bodyPr anchor="t" rtlCol="false" tIns="0" lIns="0" bIns="0" rIns="0">
            <a:spAutoFit/>
          </a:bodyPr>
          <a:lstStyle/>
          <a:p>
            <a:pPr algn="ctr">
              <a:lnSpc>
                <a:spcPts val="3359"/>
              </a:lnSpc>
            </a:pPr>
            <a:r>
              <a:rPr lang="en-US" sz="2799">
                <a:solidFill>
                  <a:srgbClr val="FFFFFF"/>
                </a:solidFill>
                <a:latin typeface="Montserrat"/>
                <a:ea typeface="Montserrat"/>
                <a:cs typeface="Montserrat"/>
                <a:sym typeface="Montserrat"/>
              </a:rPr>
              <a:t>GUIDE- </a:t>
            </a:r>
          </a:p>
          <a:p>
            <a:pPr algn="ctr">
              <a:lnSpc>
                <a:spcPts val="3359"/>
              </a:lnSpc>
            </a:pPr>
            <a:r>
              <a:rPr lang="en-US" sz="2799">
                <a:solidFill>
                  <a:srgbClr val="FFFFFF"/>
                </a:solidFill>
                <a:latin typeface="Montserrat"/>
                <a:ea typeface="Montserrat"/>
                <a:cs typeface="Montserrat"/>
                <a:sym typeface="Montserrat"/>
              </a:rPr>
              <a:t>APARNA P V</a:t>
            </a:r>
          </a:p>
          <a:p>
            <a:pPr algn="ctr">
              <a:lnSpc>
                <a:spcPts val="335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8F806E"/>
        </a:solidFill>
      </p:bgPr>
    </p:bg>
    <p:spTree>
      <p:nvGrpSpPr>
        <p:cNvPr id="1" name=""/>
        <p:cNvGrpSpPr/>
        <p:nvPr/>
      </p:nvGrpSpPr>
      <p:grpSpPr>
        <a:xfrm>
          <a:off x="0" y="0"/>
          <a:ext cx="0" cy="0"/>
          <a:chOff x="0" y="0"/>
          <a:chExt cx="0" cy="0"/>
        </a:xfrm>
      </p:grpSpPr>
      <p:grpSp>
        <p:nvGrpSpPr>
          <p:cNvPr name="Group 2" id="2"/>
          <p:cNvGrpSpPr/>
          <p:nvPr/>
        </p:nvGrpSpPr>
        <p:grpSpPr>
          <a:xfrm rot="0">
            <a:off x="10414669" y="443779"/>
            <a:ext cx="7663864" cy="9399443"/>
            <a:chOff x="0" y="0"/>
            <a:chExt cx="10218486" cy="12532590"/>
          </a:xfrm>
        </p:grpSpPr>
        <p:pic>
          <p:nvPicPr>
            <p:cNvPr name="Picture 3" id="3"/>
            <p:cNvPicPr>
              <a:picLocks noChangeAspect="true"/>
            </p:cNvPicPr>
            <p:nvPr/>
          </p:nvPicPr>
          <p:blipFill>
            <a:blip r:embed="rId2"/>
            <a:srcRect l="28647" t="0" r="28647" b="0"/>
            <a:stretch>
              <a:fillRect/>
            </a:stretch>
          </p:blipFill>
          <p:spPr>
            <a:xfrm flipH="false" flipV="false">
              <a:off x="0" y="0"/>
              <a:ext cx="10218486" cy="12532590"/>
            </a:xfrm>
            <a:prstGeom prst="rect">
              <a:avLst/>
            </a:prstGeom>
          </p:spPr>
        </p:pic>
      </p:grpSp>
      <p:sp>
        <p:nvSpPr>
          <p:cNvPr name="TextBox 4" id="4"/>
          <p:cNvSpPr txBox="true"/>
          <p:nvPr/>
        </p:nvSpPr>
        <p:spPr>
          <a:xfrm rot="0">
            <a:off x="0" y="255520"/>
            <a:ext cx="10210558" cy="3990975"/>
          </a:xfrm>
          <a:prstGeom prst="rect">
            <a:avLst/>
          </a:prstGeom>
        </p:spPr>
        <p:txBody>
          <a:bodyPr anchor="t" rtlCol="false" tIns="0" lIns="0" bIns="0" rIns="0">
            <a:spAutoFit/>
          </a:bodyPr>
          <a:lstStyle/>
          <a:p>
            <a:pPr algn="ctr">
              <a:lnSpc>
                <a:spcPts val="10560"/>
              </a:lnSpc>
            </a:pPr>
            <a:r>
              <a:rPr lang="en-US" sz="8800" b="true">
                <a:solidFill>
                  <a:srgbClr val="FFFFFF"/>
                </a:solidFill>
                <a:latin typeface="Montserrat Bold"/>
                <a:ea typeface="Montserrat Bold"/>
                <a:cs typeface="Montserrat Bold"/>
                <a:sym typeface="Montserrat Bold"/>
              </a:rPr>
              <a:t>ABOUT OUR PROJECT</a:t>
            </a:r>
          </a:p>
          <a:p>
            <a:pPr algn="ctr">
              <a:lnSpc>
                <a:spcPts val="10560"/>
              </a:lnSpc>
              <a:spcBef>
                <a:spcPct val="0"/>
              </a:spcBef>
            </a:pPr>
          </a:p>
        </p:txBody>
      </p:sp>
      <p:sp>
        <p:nvSpPr>
          <p:cNvPr name="TextBox 5" id="5"/>
          <p:cNvSpPr txBox="true"/>
          <p:nvPr/>
        </p:nvSpPr>
        <p:spPr>
          <a:xfrm rot="0">
            <a:off x="511160" y="3314700"/>
            <a:ext cx="9903509" cy="5943600"/>
          </a:xfrm>
          <a:prstGeom prst="rect">
            <a:avLst/>
          </a:prstGeom>
        </p:spPr>
        <p:txBody>
          <a:bodyPr anchor="t" rtlCol="false" tIns="0" lIns="0" bIns="0" rIns="0">
            <a:spAutoFit/>
          </a:bodyPr>
          <a:lstStyle/>
          <a:p>
            <a:pPr algn="l">
              <a:lnSpc>
                <a:spcPts val="3960"/>
              </a:lnSpc>
              <a:spcBef>
                <a:spcPct val="0"/>
              </a:spcBef>
            </a:pPr>
            <a:r>
              <a:rPr lang="en-US" sz="3300">
                <a:solidFill>
                  <a:srgbClr val="FFFFFF"/>
                </a:solidFill>
                <a:latin typeface="Montserrat"/>
                <a:ea typeface="Montserrat"/>
                <a:cs typeface="Montserrat"/>
                <a:sym typeface="Montserrat"/>
              </a:rPr>
              <a:t>The project seeks to develop a comprehensive software system designed to streamline the management of orphanages and elder care facilities. This system will serve as a centralized platform for handling various aspects of facility operations, including resident records, donation information, medical records, and educational records. By automating and organizing these tasks, the system aims to enhance efficiency, reduce administrative burdens, and ultimately improve the overall quality of care provided to residents.</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AE3D6"/>
        </a:solidFill>
      </p:bgPr>
    </p:bg>
    <p:spTree>
      <p:nvGrpSpPr>
        <p:cNvPr id="1" name=""/>
        <p:cNvGrpSpPr/>
        <p:nvPr/>
      </p:nvGrpSpPr>
      <p:grpSpPr>
        <a:xfrm>
          <a:off x="0" y="0"/>
          <a:ext cx="0" cy="0"/>
          <a:chOff x="0" y="0"/>
          <a:chExt cx="0" cy="0"/>
        </a:xfrm>
      </p:grpSpPr>
      <p:sp>
        <p:nvSpPr>
          <p:cNvPr name="AutoShape 2" id="2"/>
          <p:cNvSpPr/>
          <p:nvPr/>
        </p:nvSpPr>
        <p:spPr>
          <a:xfrm>
            <a:off x="10998610" y="1742919"/>
            <a:ext cx="7033024" cy="0"/>
          </a:xfrm>
          <a:prstGeom prst="line">
            <a:avLst/>
          </a:prstGeom>
          <a:ln cap="rnd" w="9525">
            <a:solidFill>
              <a:srgbClr val="000000"/>
            </a:solidFill>
            <a:prstDash val="solid"/>
            <a:headEnd type="none" len="sm" w="sm"/>
            <a:tailEnd type="none" len="sm" w="sm"/>
          </a:ln>
        </p:spPr>
      </p:sp>
      <p:sp>
        <p:nvSpPr>
          <p:cNvPr name="TextBox 3" id="3"/>
          <p:cNvSpPr txBox="true"/>
          <p:nvPr/>
        </p:nvSpPr>
        <p:spPr>
          <a:xfrm rot="0">
            <a:off x="256366" y="2181910"/>
            <a:ext cx="17775269" cy="8048625"/>
          </a:xfrm>
          <a:prstGeom prst="rect">
            <a:avLst/>
          </a:prstGeom>
        </p:spPr>
        <p:txBody>
          <a:bodyPr anchor="t" rtlCol="false" tIns="0" lIns="0" bIns="0" rIns="0">
            <a:spAutoFit/>
          </a:bodyPr>
          <a:lstStyle/>
          <a:p>
            <a:pPr algn="l">
              <a:lnSpc>
                <a:spcPts val="3599"/>
              </a:lnSpc>
            </a:pPr>
            <a:r>
              <a:rPr lang="en-US" sz="2999" b="true">
                <a:solidFill>
                  <a:srgbClr val="000000"/>
                </a:solidFill>
                <a:latin typeface="Montserrat Bold"/>
                <a:ea typeface="Montserrat Bold"/>
                <a:cs typeface="Montserrat Bold"/>
                <a:sym typeface="Montserrat Bold"/>
              </a:rPr>
              <a:t>SIGNUP</a:t>
            </a:r>
            <a:r>
              <a:rPr lang="en-US" sz="2999">
                <a:solidFill>
                  <a:srgbClr val="000000"/>
                </a:solidFill>
                <a:latin typeface="Montserrat"/>
                <a:ea typeface="Montserrat"/>
                <a:cs typeface="Montserrat"/>
                <a:sym typeface="Montserrat"/>
              </a:rPr>
              <a:t> : User should signup first into the website to be able to login in .</a:t>
            </a:r>
          </a:p>
          <a:p>
            <a:pPr algn="l">
              <a:lnSpc>
                <a:spcPts val="3599"/>
              </a:lnSpc>
            </a:pPr>
          </a:p>
          <a:p>
            <a:pPr algn="l">
              <a:lnSpc>
                <a:spcPts val="3599"/>
              </a:lnSpc>
            </a:pPr>
            <a:r>
              <a:rPr lang="en-US" sz="2999" b="true">
                <a:solidFill>
                  <a:srgbClr val="000000"/>
                </a:solidFill>
                <a:latin typeface="Montserrat Bold"/>
                <a:ea typeface="Montserrat Bold"/>
                <a:cs typeface="Montserrat Bold"/>
                <a:sym typeface="Montserrat Bold"/>
              </a:rPr>
              <a:t>LOGIN</a:t>
            </a:r>
            <a:r>
              <a:rPr lang="en-US" sz="2999">
                <a:solidFill>
                  <a:srgbClr val="000000"/>
                </a:solidFill>
                <a:latin typeface="Montserrat"/>
                <a:ea typeface="Montserrat"/>
                <a:cs typeface="Montserrat"/>
                <a:sym typeface="Montserrat"/>
              </a:rPr>
              <a:t>: User and Admin would be able to login to the online facility website .</a:t>
            </a:r>
          </a:p>
          <a:p>
            <a:pPr algn="l">
              <a:lnSpc>
                <a:spcPts val="3599"/>
              </a:lnSpc>
            </a:pPr>
          </a:p>
          <a:p>
            <a:pPr algn="l">
              <a:lnSpc>
                <a:spcPts val="3599"/>
              </a:lnSpc>
            </a:pPr>
            <a:r>
              <a:rPr lang="en-US" sz="2999" b="true">
                <a:solidFill>
                  <a:srgbClr val="000000"/>
                </a:solidFill>
                <a:latin typeface="Montserrat Bold"/>
                <a:ea typeface="Montserrat Bold"/>
                <a:cs typeface="Montserrat Bold"/>
                <a:sym typeface="Montserrat Bold"/>
              </a:rPr>
              <a:t>RESIDENT DETAIL:</a:t>
            </a:r>
            <a:r>
              <a:rPr lang="en-US" sz="2999">
                <a:solidFill>
                  <a:srgbClr val="000000"/>
                </a:solidFill>
                <a:latin typeface="Montserrat"/>
                <a:ea typeface="Montserrat"/>
                <a:cs typeface="Montserrat"/>
                <a:sym typeface="Montserrat"/>
              </a:rPr>
              <a:t> Here all the details of the facility resident will be stored</a:t>
            </a:r>
          </a:p>
          <a:p>
            <a:pPr algn="l">
              <a:lnSpc>
                <a:spcPts val="3599"/>
              </a:lnSpc>
            </a:pPr>
          </a:p>
          <a:p>
            <a:pPr algn="l">
              <a:lnSpc>
                <a:spcPts val="3599"/>
              </a:lnSpc>
            </a:pPr>
            <a:r>
              <a:rPr lang="en-US" sz="2999" b="true">
                <a:solidFill>
                  <a:srgbClr val="000000"/>
                </a:solidFill>
                <a:latin typeface="Montserrat Bold"/>
                <a:ea typeface="Montserrat Bold"/>
                <a:cs typeface="Montserrat Bold"/>
                <a:sym typeface="Montserrat Bold"/>
              </a:rPr>
              <a:t>DONATION DETAIL:</a:t>
            </a:r>
            <a:r>
              <a:rPr lang="en-US" sz="2999">
                <a:solidFill>
                  <a:srgbClr val="000000"/>
                </a:solidFill>
                <a:latin typeface="Montserrat"/>
                <a:ea typeface="Montserrat"/>
                <a:cs typeface="Montserrat"/>
                <a:sym typeface="Montserrat"/>
              </a:rPr>
              <a:t> Tools for organizing and managing community fundraising efforts and charitable donations. </a:t>
            </a:r>
          </a:p>
          <a:p>
            <a:pPr algn="l">
              <a:lnSpc>
                <a:spcPts val="3599"/>
              </a:lnSpc>
            </a:pPr>
          </a:p>
          <a:p>
            <a:pPr algn="l">
              <a:lnSpc>
                <a:spcPts val="3599"/>
              </a:lnSpc>
            </a:pPr>
            <a:r>
              <a:rPr lang="en-US" sz="2999" b="true">
                <a:solidFill>
                  <a:srgbClr val="000000"/>
                </a:solidFill>
                <a:latin typeface="Montserrat Bold"/>
                <a:ea typeface="Montserrat Bold"/>
                <a:cs typeface="Montserrat Bold"/>
                <a:sym typeface="Montserrat Bold"/>
              </a:rPr>
              <a:t>APPOINTMENT</a:t>
            </a:r>
            <a:r>
              <a:rPr lang="en-US" sz="2999">
                <a:solidFill>
                  <a:srgbClr val="000000"/>
                </a:solidFill>
                <a:latin typeface="Montserrat"/>
                <a:ea typeface="Montserrat"/>
                <a:cs typeface="Montserrat"/>
                <a:sym typeface="Montserrat"/>
              </a:rPr>
              <a:t> : Tool the user can use to book timing and date to visit the facility and spend time with the Residents.</a:t>
            </a:r>
          </a:p>
          <a:p>
            <a:pPr algn="l">
              <a:lnSpc>
                <a:spcPts val="3599"/>
              </a:lnSpc>
            </a:pPr>
          </a:p>
          <a:p>
            <a:pPr algn="l">
              <a:lnSpc>
                <a:spcPts val="3599"/>
              </a:lnSpc>
            </a:pPr>
            <a:r>
              <a:rPr lang="en-US" sz="2999" b="true">
                <a:solidFill>
                  <a:srgbClr val="000000"/>
                </a:solidFill>
                <a:latin typeface="Montserrat Bold"/>
                <a:ea typeface="Montserrat Bold"/>
                <a:cs typeface="Montserrat Bold"/>
                <a:sym typeface="Montserrat Bold"/>
              </a:rPr>
              <a:t>BILLING</a:t>
            </a:r>
            <a:r>
              <a:rPr lang="en-US" sz="2999">
                <a:solidFill>
                  <a:srgbClr val="000000"/>
                </a:solidFill>
                <a:latin typeface="Montserrat"/>
                <a:ea typeface="Montserrat"/>
                <a:cs typeface="Montserrat"/>
                <a:sym typeface="Montserrat"/>
              </a:rPr>
              <a:t>: It stores the purchase history of the products sold in the facility store. </a:t>
            </a:r>
          </a:p>
          <a:p>
            <a:pPr algn="l">
              <a:lnSpc>
                <a:spcPts val="3599"/>
              </a:lnSpc>
            </a:pPr>
          </a:p>
          <a:p>
            <a:pPr algn="l">
              <a:lnSpc>
                <a:spcPts val="3599"/>
              </a:lnSpc>
            </a:pPr>
            <a:r>
              <a:rPr lang="en-US" sz="2999" b="true">
                <a:solidFill>
                  <a:srgbClr val="000000"/>
                </a:solidFill>
                <a:latin typeface="Montserrat Bold"/>
                <a:ea typeface="Montserrat Bold"/>
                <a:cs typeface="Montserrat Bold"/>
                <a:sym typeface="Montserrat Bold"/>
              </a:rPr>
              <a:t>RECORD REQUEST</a:t>
            </a:r>
            <a:r>
              <a:rPr lang="en-US" sz="2999">
                <a:solidFill>
                  <a:srgbClr val="000000"/>
                </a:solidFill>
                <a:latin typeface="Montserrat"/>
                <a:ea typeface="Montserrat"/>
                <a:cs typeface="Montserrat"/>
                <a:sym typeface="Montserrat"/>
              </a:rPr>
              <a:t>: This module will help the admin to send the medical and educational records to the guardians of the resident.</a:t>
            </a:r>
          </a:p>
          <a:p>
            <a:pPr algn="l">
              <a:lnSpc>
                <a:spcPts val="3599"/>
              </a:lnSpc>
            </a:pPr>
            <a:r>
              <a:rPr lang="en-US" sz="2999">
                <a:solidFill>
                  <a:srgbClr val="000000"/>
                </a:solidFill>
                <a:latin typeface="Montserrat"/>
                <a:ea typeface="Montserrat"/>
                <a:cs typeface="Montserrat"/>
                <a:sym typeface="Montserrat"/>
              </a:rPr>
              <a:t> </a:t>
            </a:r>
          </a:p>
          <a:p>
            <a:pPr algn="l">
              <a:lnSpc>
                <a:spcPts val="3599"/>
              </a:lnSpc>
              <a:spcBef>
                <a:spcPct val="0"/>
              </a:spcBef>
            </a:pPr>
          </a:p>
        </p:txBody>
      </p:sp>
      <p:sp>
        <p:nvSpPr>
          <p:cNvPr name="TextBox 4" id="4"/>
          <p:cNvSpPr txBox="true"/>
          <p:nvPr/>
        </p:nvSpPr>
        <p:spPr>
          <a:xfrm rot="0">
            <a:off x="2781197" y="476935"/>
            <a:ext cx="10984211" cy="1885950"/>
          </a:xfrm>
          <a:prstGeom prst="rect">
            <a:avLst/>
          </a:prstGeom>
        </p:spPr>
        <p:txBody>
          <a:bodyPr anchor="t" rtlCol="false" tIns="0" lIns="0" bIns="0" rIns="0">
            <a:spAutoFit/>
          </a:bodyPr>
          <a:lstStyle/>
          <a:p>
            <a:pPr algn="ctr">
              <a:lnSpc>
                <a:spcPts val="7439"/>
              </a:lnSpc>
            </a:pPr>
            <a:r>
              <a:rPr lang="en-US" sz="6199" b="true">
                <a:solidFill>
                  <a:srgbClr val="000000"/>
                </a:solidFill>
                <a:latin typeface="Montserrat Bold"/>
                <a:ea typeface="Montserrat Bold"/>
                <a:cs typeface="Montserrat Bold"/>
                <a:sym typeface="Montserrat Bold"/>
              </a:rPr>
              <a:t>MODULES OF THE SYSTEM</a:t>
            </a:r>
          </a:p>
          <a:p>
            <a:pPr algn="ctr">
              <a:lnSpc>
                <a:spcPts val="7439"/>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8F806E"/>
        </a:solidFill>
      </p:bgPr>
    </p:bg>
    <p:spTree>
      <p:nvGrpSpPr>
        <p:cNvPr id="1" name=""/>
        <p:cNvGrpSpPr/>
        <p:nvPr/>
      </p:nvGrpSpPr>
      <p:grpSpPr>
        <a:xfrm>
          <a:off x="0" y="0"/>
          <a:ext cx="0" cy="0"/>
          <a:chOff x="0" y="0"/>
          <a:chExt cx="0" cy="0"/>
        </a:xfrm>
      </p:grpSpPr>
      <p:sp>
        <p:nvSpPr>
          <p:cNvPr name="Freeform 2" id="2"/>
          <p:cNvSpPr/>
          <p:nvPr/>
        </p:nvSpPr>
        <p:spPr>
          <a:xfrm flipH="false" flipV="false" rot="0">
            <a:off x="2121517" y="1414462"/>
            <a:ext cx="14456506" cy="8598898"/>
          </a:xfrm>
          <a:custGeom>
            <a:avLst/>
            <a:gdLst/>
            <a:ahLst/>
            <a:cxnLst/>
            <a:rect r="r" b="b" t="t" l="l"/>
            <a:pathLst>
              <a:path h="8598898" w="14456506">
                <a:moveTo>
                  <a:pt x="0" y="0"/>
                </a:moveTo>
                <a:lnTo>
                  <a:pt x="14456506" y="0"/>
                </a:lnTo>
                <a:lnTo>
                  <a:pt x="14456506" y="8598898"/>
                </a:lnTo>
                <a:lnTo>
                  <a:pt x="0" y="8598898"/>
                </a:lnTo>
                <a:lnTo>
                  <a:pt x="0" y="0"/>
                </a:lnTo>
                <a:close/>
              </a:path>
            </a:pathLst>
          </a:custGeom>
          <a:blipFill>
            <a:blip r:embed="rId2"/>
            <a:stretch>
              <a:fillRect l="0" t="-120" r="0" b="-120"/>
            </a:stretch>
          </a:blipFill>
        </p:spPr>
      </p:sp>
      <p:sp>
        <p:nvSpPr>
          <p:cNvPr name="TextBox 3" id="3"/>
          <p:cNvSpPr txBox="true"/>
          <p:nvPr/>
        </p:nvSpPr>
        <p:spPr>
          <a:xfrm rot="0">
            <a:off x="3831167" y="461962"/>
            <a:ext cx="10109697" cy="771525"/>
          </a:xfrm>
          <a:prstGeom prst="rect">
            <a:avLst/>
          </a:prstGeom>
        </p:spPr>
        <p:txBody>
          <a:bodyPr anchor="t" rtlCol="false" tIns="0" lIns="0" bIns="0" rIns="0">
            <a:spAutoFit/>
          </a:bodyPr>
          <a:lstStyle/>
          <a:p>
            <a:pPr algn="ctr">
              <a:lnSpc>
                <a:spcPts val="6119"/>
              </a:lnSpc>
              <a:spcBef>
                <a:spcPct val="0"/>
              </a:spcBef>
            </a:pPr>
            <a:r>
              <a:rPr lang="en-US" b="true" sz="5099">
                <a:solidFill>
                  <a:srgbClr val="000000"/>
                </a:solidFill>
                <a:latin typeface="Montserrat Bold"/>
                <a:ea typeface="Montserrat Bold"/>
                <a:cs typeface="Montserrat Bold"/>
                <a:sym typeface="Montserrat Bold"/>
              </a:rPr>
              <a:t>System Architecture Diagram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8F806E"/>
        </a:solidFill>
      </p:bgPr>
    </p:bg>
    <p:spTree>
      <p:nvGrpSpPr>
        <p:cNvPr id="1" name=""/>
        <p:cNvGrpSpPr/>
        <p:nvPr/>
      </p:nvGrpSpPr>
      <p:grpSpPr>
        <a:xfrm>
          <a:off x="0" y="0"/>
          <a:ext cx="0" cy="0"/>
          <a:chOff x="0" y="0"/>
          <a:chExt cx="0" cy="0"/>
        </a:xfrm>
      </p:grpSpPr>
      <p:sp>
        <p:nvSpPr>
          <p:cNvPr name="Freeform 2" id="2"/>
          <p:cNvSpPr/>
          <p:nvPr/>
        </p:nvSpPr>
        <p:spPr>
          <a:xfrm flipH="false" flipV="false" rot="0">
            <a:off x="1555072" y="1442414"/>
            <a:ext cx="5456403" cy="7620843"/>
          </a:xfrm>
          <a:custGeom>
            <a:avLst/>
            <a:gdLst/>
            <a:ahLst/>
            <a:cxnLst/>
            <a:rect r="r" b="b" t="t" l="l"/>
            <a:pathLst>
              <a:path h="7620843" w="5456403">
                <a:moveTo>
                  <a:pt x="0" y="0"/>
                </a:moveTo>
                <a:lnTo>
                  <a:pt x="5456403" y="0"/>
                </a:lnTo>
                <a:lnTo>
                  <a:pt x="5456403" y="7620843"/>
                </a:lnTo>
                <a:lnTo>
                  <a:pt x="0" y="7620843"/>
                </a:lnTo>
                <a:lnTo>
                  <a:pt x="0" y="0"/>
                </a:lnTo>
                <a:close/>
              </a:path>
            </a:pathLst>
          </a:custGeom>
          <a:blipFill>
            <a:blip r:embed="rId2"/>
            <a:stretch>
              <a:fillRect l="0" t="0" r="0" b="0"/>
            </a:stretch>
          </a:blipFill>
        </p:spPr>
      </p:sp>
      <p:sp>
        <p:nvSpPr>
          <p:cNvPr name="Freeform 3" id="3"/>
          <p:cNvSpPr/>
          <p:nvPr/>
        </p:nvSpPr>
        <p:spPr>
          <a:xfrm flipH="false" flipV="false" rot="0">
            <a:off x="8922694" y="1484154"/>
            <a:ext cx="6422507" cy="7579103"/>
          </a:xfrm>
          <a:custGeom>
            <a:avLst/>
            <a:gdLst/>
            <a:ahLst/>
            <a:cxnLst/>
            <a:rect r="r" b="b" t="t" l="l"/>
            <a:pathLst>
              <a:path h="7579103" w="6422507">
                <a:moveTo>
                  <a:pt x="0" y="0"/>
                </a:moveTo>
                <a:lnTo>
                  <a:pt x="6422508" y="0"/>
                </a:lnTo>
                <a:lnTo>
                  <a:pt x="6422508" y="7579103"/>
                </a:lnTo>
                <a:lnTo>
                  <a:pt x="0" y="7579103"/>
                </a:lnTo>
                <a:lnTo>
                  <a:pt x="0" y="0"/>
                </a:lnTo>
                <a:close/>
              </a:path>
            </a:pathLst>
          </a:custGeom>
          <a:blipFill>
            <a:blip r:embed="rId3"/>
            <a:stretch>
              <a:fillRect l="0" t="0" r="0" b="0"/>
            </a:stretch>
          </a:blipFill>
        </p:spPr>
      </p:sp>
      <p:sp>
        <p:nvSpPr>
          <p:cNvPr name="TextBox 4" id="4"/>
          <p:cNvSpPr txBox="true"/>
          <p:nvPr/>
        </p:nvSpPr>
        <p:spPr>
          <a:xfrm rot="0">
            <a:off x="4283273" y="257175"/>
            <a:ext cx="9721453" cy="771525"/>
          </a:xfrm>
          <a:prstGeom prst="rect">
            <a:avLst/>
          </a:prstGeom>
        </p:spPr>
        <p:txBody>
          <a:bodyPr anchor="t" rtlCol="false" tIns="0" lIns="0" bIns="0" rIns="0">
            <a:spAutoFit/>
          </a:bodyPr>
          <a:lstStyle/>
          <a:p>
            <a:pPr algn="ctr">
              <a:lnSpc>
                <a:spcPts val="6120"/>
              </a:lnSpc>
              <a:spcBef>
                <a:spcPct val="0"/>
              </a:spcBef>
            </a:pPr>
            <a:r>
              <a:rPr lang="en-US" b="true" sz="5100">
                <a:solidFill>
                  <a:srgbClr val="000000"/>
                </a:solidFill>
                <a:latin typeface="Montserrat Bold"/>
                <a:ea typeface="Montserrat Bold"/>
                <a:cs typeface="Montserrat Bold"/>
                <a:sym typeface="Montserrat Bold"/>
              </a:rPr>
              <a:t>Input/Output Screen design </a:t>
            </a:r>
          </a:p>
        </p:txBody>
      </p:sp>
      <p:sp>
        <p:nvSpPr>
          <p:cNvPr name="TextBox 5" id="5"/>
          <p:cNvSpPr txBox="true"/>
          <p:nvPr/>
        </p:nvSpPr>
        <p:spPr>
          <a:xfrm rot="0">
            <a:off x="2245271" y="9482357"/>
            <a:ext cx="3482280" cy="285750"/>
          </a:xfrm>
          <a:prstGeom prst="rect">
            <a:avLst/>
          </a:prstGeom>
        </p:spPr>
        <p:txBody>
          <a:bodyPr anchor="t" rtlCol="false" tIns="0" lIns="0" bIns="0" rIns="0">
            <a:spAutoFit/>
          </a:bodyPr>
          <a:lstStyle/>
          <a:p>
            <a:pPr algn="ctr">
              <a:lnSpc>
                <a:spcPts val="2399"/>
              </a:lnSpc>
              <a:spcBef>
                <a:spcPct val="0"/>
              </a:spcBef>
            </a:pPr>
            <a:r>
              <a:rPr lang="en-US" b="true" sz="1999">
                <a:solidFill>
                  <a:srgbClr val="FFFFFF"/>
                </a:solidFill>
                <a:latin typeface="Montserrat Bold"/>
                <a:ea typeface="Montserrat Bold"/>
                <a:cs typeface="Montserrat Bold"/>
                <a:sym typeface="Montserrat Bold"/>
              </a:rPr>
              <a:t>INPUT DESIGN OF SIGNUP</a:t>
            </a:r>
          </a:p>
        </p:txBody>
      </p:sp>
      <p:sp>
        <p:nvSpPr>
          <p:cNvPr name="TextBox 6" id="6"/>
          <p:cNvSpPr txBox="true"/>
          <p:nvPr/>
        </p:nvSpPr>
        <p:spPr>
          <a:xfrm rot="0">
            <a:off x="10482551" y="9320432"/>
            <a:ext cx="3302794"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INPUT DESIGN OF LOGIN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8F806E"/>
        </a:solidFill>
      </p:bgPr>
    </p:bg>
    <p:spTree>
      <p:nvGrpSpPr>
        <p:cNvPr id="1" name=""/>
        <p:cNvGrpSpPr/>
        <p:nvPr/>
      </p:nvGrpSpPr>
      <p:grpSpPr>
        <a:xfrm>
          <a:off x="0" y="0"/>
          <a:ext cx="0" cy="0"/>
          <a:chOff x="0" y="0"/>
          <a:chExt cx="0" cy="0"/>
        </a:xfrm>
      </p:grpSpPr>
      <p:sp>
        <p:nvSpPr>
          <p:cNvPr name="Freeform 2" id="2"/>
          <p:cNvSpPr/>
          <p:nvPr/>
        </p:nvSpPr>
        <p:spPr>
          <a:xfrm flipH="false" flipV="false" rot="0">
            <a:off x="1267377" y="601996"/>
            <a:ext cx="6606121" cy="8474144"/>
          </a:xfrm>
          <a:custGeom>
            <a:avLst/>
            <a:gdLst/>
            <a:ahLst/>
            <a:cxnLst/>
            <a:rect r="r" b="b" t="t" l="l"/>
            <a:pathLst>
              <a:path h="8474144" w="6606121">
                <a:moveTo>
                  <a:pt x="0" y="0"/>
                </a:moveTo>
                <a:lnTo>
                  <a:pt x="6606121" y="0"/>
                </a:lnTo>
                <a:lnTo>
                  <a:pt x="6606121" y="8474144"/>
                </a:lnTo>
                <a:lnTo>
                  <a:pt x="0" y="8474144"/>
                </a:lnTo>
                <a:lnTo>
                  <a:pt x="0" y="0"/>
                </a:lnTo>
                <a:close/>
              </a:path>
            </a:pathLst>
          </a:custGeom>
          <a:blipFill>
            <a:blip r:embed="rId2"/>
            <a:stretch>
              <a:fillRect l="0" t="0" r="0" b="0"/>
            </a:stretch>
          </a:blipFill>
        </p:spPr>
      </p:sp>
      <p:sp>
        <p:nvSpPr>
          <p:cNvPr name="Freeform 3" id="3"/>
          <p:cNvSpPr/>
          <p:nvPr/>
        </p:nvSpPr>
        <p:spPr>
          <a:xfrm flipH="false" flipV="false" rot="0">
            <a:off x="9897676" y="1814402"/>
            <a:ext cx="6096740" cy="6049331"/>
          </a:xfrm>
          <a:custGeom>
            <a:avLst/>
            <a:gdLst/>
            <a:ahLst/>
            <a:cxnLst/>
            <a:rect r="r" b="b" t="t" l="l"/>
            <a:pathLst>
              <a:path h="6049331" w="6096740">
                <a:moveTo>
                  <a:pt x="0" y="0"/>
                </a:moveTo>
                <a:lnTo>
                  <a:pt x="6096740" y="0"/>
                </a:lnTo>
                <a:lnTo>
                  <a:pt x="6096740" y="6049332"/>
                </a:lnTo>
                <a:lnTo>
                  <a:pt x="0" y="6049332"/>
                </a:lnTo>
                <a:lnTo>
                  <a:pt x="0" y="0"/>
                </a:lnTo>
                <a:close/>
              </a:path>
            </a:pathLst>
          </a:custGeom>
          <a:blipFill>
            <a:blip r:embed="rId3"/>
            <a:stretch>
              <a:fillRect l="0" t="0" r="0" b="0"/>
            </a:stretch>
          </a:blipFill>
        </p:spPr>
      </p:sp>
      <p:sp>
        <p:nvSpPr>
          <p:cNvPr name="TextBox 4" id="4"/>
          <p:cNvSpPr txBox="true"/>
          <p:nvPr/>
        </p:nvSpPr>
        <p:spPr>
          <a:xfrm rot="0">
            <a:off x="2603178" y="9258300"/>
            <a:ext cx="3934520"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INPUT DESIGN OF DONATION</a:t>
            </a:r>
          </a:p>
        </p:txBody>
      </p:sp>
      <p:sp>
        <p:nvSpPr>
          <p:cNvPr name="TextBox 5" id="5"/>
          <p:cNvSpPr txBox="true"/>
          <p:nvPr/>
        </p:nvSpPr>
        <p:spPr>
          <a:xfrm rot="0">
            <a:off x="10837300" y="8111938"/>
            <a:ext cx="4217491"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OUTPUT DESIGN OF DONATION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8F806E"/>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05538"/>
            <a:ext cx="6334563" cy="8572978"/>
          </a:xfrm>
          <a:custGeom>
            <a:avLst/>
            <a:gdLst/>
            <a:ahLst/>
            <a:cxnLst/>
            <a:rect r="r" b="b" t="t" l="l"/>
            <a:pathLst>
              <a:path h="8572978" w="6334563">
                <a:moveTo>
                  <a:pt x="0" y="0"/>
                </a:moveTo>
                <a:lnTo>
                  <a:pt x="6334563" y="0"/>
                </a:lnTo>
                <a:lnTo>
                  <a:pt x="6334563" y="8572978"/>
                </a:lnTo>
                <a:lnTo>
                  <a:pt x="0" y="8572978"/>
                </a:lnTo>
                <a:lnTo>
                  <a:pt x="0" y="0"/>
                </a:lnTo>
                <a:close/>
              </a:path>
            </a:pathLst>
          </a:custGeom>
          <a:blipFill>
            <a:blip r:embed="rId2"/>
            <a:stretch>
              <a:fillRect l="0" t="0" r="0" b="0"/>
            </a:stretch>
          </a:blipFill>
        </p:spPr>
      </p:sp>
      <p:sp>
        <p:nvSpPr>
          <p:cNvPr name="TextBox 3" id="3"/>
          <p:cNvSpPr txBox="true"/>
          <p:nvPr/>
        </p:nvSpPr>
        <p:spPr>
          <a:xfrm rot="0">
            <a:off x="2219250" y="9105900"/>
            <a:ext cx="4452144"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INPUT DESIGN OF APPOINTMENT</a:t>
            </a:r>
          </a:p>
        </p:txBody>
      </p:sp>
      <p:sp>
        <p:nvSpPr>
          <p:cNvPr name="Freeform 4" id="4"/>
          <p:cNvSpPr/>
          <p:nvPr/>
        </p:nvSpPr>
        <p:spPr>
          <a:xfrm flipH="false" flipV="false" rot="0">
            <a:off x="8761784" y="2999803"/>
            <a:ext cx="8497516" cy="3678530"/>
          </a:xfrm>
          <a:custGeom>
            <a:avLst/>
            <a:gdLst/>
            <a:ahLst/>
            <a:cxnLst/>
            <a:rect r="r" b="b" t="t" l="l"/>
            <a:pathLst>
              <a:path h="3678530" w="8497516">
                <a:moveTo>
                  <a:pt x="0" y="0"/>
                </a:moveTo>
                <a:lnTo>
                  <a:pt x="8497516" y="0"/>
                </a:lnTo>
                <a:lnTo>
                  <a:pt x="8497516" y="3678530"/>
                </a:lnTo>
                <a:lnTo>
                  <a:pt x="0" y="3678530"/>
                </a:lnTo>
                <a:lnTo>
                  <a:pt x="0" y="0"/>
                </a:lnTo>
                <a:close/>
              </a:path>
            </a:pathLst>
          </a:custGeom>
          <a:blipFill>
            <a:blip r:embed="rId3"/>
            <a:stretch>
              <a:fillRect l="0" t="0" r="0" b="0"/>
            </a:stretch>
          </a:blipFill>
        </p:spPr>
      </p:sp>
      <p:sp>
        <p:nvSpPr>
          <p:cNvPr name="TextBox 5" id="5"/>
          <p:cNvSpPr txBox="true"/>
          <p:nvPr/>
        </p:nvSpPr>
        <p:spPr>
          <a:xfrm rot="0">
            <a:off x="10642984" y="7022727"/>
            <a:ext cx="4735116"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OUTPUT DESIGN OF APPOINTMNET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8F806E"/>
        </a:solidFill>
      </p:bgPr>
    </p:bg>
    <p:spTree>
      <p:nvGrpSpPr>
        <p:cNvPr id="1" name=""/>
        <p:cNvGrpSpPr/>
        <p:nvPr/>
      </p:nvGrpSpPr>
      <p:grpSpPr>
        <a:xfrm>
          <a:off x="0" y="0"/>
          <a:ext cx="0" cy="0"/>
          <a:chOff x="0" y="0"/>
          <a:chExt cx="0" cy="0"/>
        </a:xfrm>
      </p:grpSpPr>
      <p:sp>
        <p:nvSpPr>
          <p:cNvPr name="Freeform 2" id="2"/>
          <p:cNvSpPr/>
          <p:nvPr/>
        </p:nvSpPr>
        <p:spPr>
          <a:xfrm flipH="false" flipV="false" rot="0">
            <a:off x="566262" y="443768"/>
            <a:ext cx="6177457" cy="8814532"/>
          </a:xfrm>
          <a:custGeom>
            <a:avLst/>
            <a:gdLst/>
            <a:ahLst/>
            <a:cxnLst/>
            <a:rect r="r" b="b" t="t" l="l"/>
            <a:pathLst>
              <a:path h="8814532" w="6177457">
                <a:moveTo>
                  <a:pt x="0" y="0"/>
                </a:moveTo>
                <a:lnTo>
                  <a:pt x="6177457" y="0"/>
                </a:lnTo>
                <a:lnTo>
                  <a:pt x="6177457" y="8814532"/>
                </a:lnTo>
                <a:lnTo>
                  <a:pt x="0" y="8814532"/>
                </a:lnTo>
                <a:lnTo>
                  <a:pt x="0" y="0"/>
                </a:lnTo>
                <a:close/>
              </a:path>
            </a:pathLst>
          </a:custGeom>
          <a:blipFill>
            <a:blip r:embed="rId2"/>
            <a:stretch>
              <a:fillRect l="0" t="0" r="0" b="0"/>
            </a:stretch>
          </a:blipFill>
        </p:spPr>
      </p:sp>
      <p:sp>
        <p:nvSpPr>
          <p:cNvPr name="Freeform 3" id="3"/>
          <p:cNvSpPr/>
          <p:nvPr/>
        </p:nvSpPr>
        <p:spPr>
          <a:xfrm flipH="false" flipV="false" rot="0">
            <a:off x="7316454" y="2029752"/>
            <a:ext cx="9942846" cy="5642565"/>
          </a:xfrm>
          <a:custGeom>
            <a:avLst/>
            <a:gdLst/>
            <a:ahLst/>
            <a:cxnLst/>
            <a:rect r="r" b="b" t="t" l="l"/>
            <a:pathLst>
              <a:path h="5642565" w="9942846">
                <a:moveTo>
                  <a:pt x="0" y="0"/>
                </a:moveTo>
                <a:lnTo>
                  <a:pt x="9942846" y="0"/>
                </a:lnTo>
                <a:lnTo>
                  <a:pt x="9942846" y="5642564"/>
                </a:lnTo>
                <a:lnTo>
                  <a:pt x="0" y="5642564"/>
                </a:lnTo>
                <a:lnTo>
                  <a:pt x="0" y="0"/>
                </a:lnTo>
                <a:close/>
              </a:path>
            </a:pathLst>
          </a:custGeom>
          <a:blipFill>
            <a:blip r:embed="rId3"/>
            <a:stretch>
              <a:fillRect l="0" t="0" r="0" b="0"/>
            </a:stretch>
          </a:blipFill>
        </p:spPr>
      </p:sp>
      <p:sp>
        <p:nvSpPr>
          <p:cNvPr name="TextBox 4" id="4"/>
          <p:cNvSpPr txBox="true"/>
          <p:nvPr/>
        </p:nvSpPr>
        <p:spPr>
          <a:xfrm rot="0">
            <a:off x="1186081" y="9499694"/>
            <a:ext cx="4937820"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INPUT DESIGN OF RECORD REQUEST</a:t>
            </a:r>
          </a:p>
        </p:txBody>
      </p:sp>
      <p:sp>
        <p:nvSpPr>
          <p:cNvPr name="TextBox 5" id="5"/>
          <p:cNvSpPr txBox="true"/>
          <p:nvPr/>
        </p:nvSpPr>
        <p:spPr>
          <a:xfrm rot="0">
            <a:off x="9420245" y="7910700"/>
            <a:ext cx="5220792"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OUTPUT DESIGN OF RECORD REQUEST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8F806E"/>
        </a:solidFill>
      </p:bgPr>
    </p:bg>
    <p:spTree>
      <p:nvGrpSpPr>
        <p:cNvPr id="1" name=""/>
        <p:cNvGrpSpPr/>
        <p:nvPr/>
      </p:nvGrpSpPr>
      <p:grpSpPr>
        <a:xfrm>
          <a:off x="0" y="0"/>
          <a:ext cx="0" cy="0"/>
          <a:chOff x="0" y="0"/>
          <a:chExt cx="0" cy="0"/>
        </a:xfrm>
      </p:grpSpPr>
      <p:sp>
        <p:nvSpPr>
          <p:cNvPr name="Freeform 2" id="2"/>
          <p:cNvSpPr/>
          <p:nvPr/>
        </p:nvSpPr>
        <p:spPr>
          <a:xfrm flipH="false" flipV="false" rot="0">
            <a:off x="507354" y="416770"/>
            <a:ext cx="6638595" cy="8677901"/>
          </a:xfrm>
          <a:custGeom>
            <a:avLst/>
            <a:gdLst/>
            <a:ahLst/>
            <a:cxnLst/>
            <a:rect r="r" b="b" t="t" l="l"/>
            <a:pathLst>
              <a:path h="8677901" w="6638595">
                <a:moveTo>
                  <a:pt x="0" y="0"/>
                </a:moveTo>
                <a:lnTo>
                  <a:pt x="6638595" y="0"/>
                </a:lnTo>
                <a:lnTo>
                  <a:pt x="6638595" y="8677902"/>
                </a:lnTo>
                <a:lnTo>
                  <a:pt x="0" y="8677902"/>
                </a:lnTo>
                <a:lnTo>
                  <a:pt x="0" y="0"/>
                </a:lnTo>
                <a:close/>
              </a:path>
            </a:pathLst>
          </a:custGeom>
          <a:blipFill>
            <a:blip r:embed="rId2"/>
            <a:stretch>
              <a:fillRect l="0" t="0" r="0" b="0"/>
            </a:stretch>
          </a:blipFill>
        </p:spPr>
      </p:sp>
      <p:sp>
        <p:nvSpPr>
          <p:cNvPr name="Freeform 3" id="3"/>
          <p:cNvSpPr/>
          <p:nvPr/>
        </p:nvSpPr>
        <p:spPr>
          <a:xfrm flipH="false" flipV="false" rot="0">
            <a:off x="9432600" y="1458734"/>
            <a:ext cx="6096740" cy="6049331"/>
          </a:xfrm>
          <a:custGeom>
            <a:avLst/>
            <a:gdLst/>
            <a:ahLst/>
            <a:cxnLst/>
            <a:rect r="r" b="b" t="t" l="l"/>
            <a:pathLst>
              <a:path h="6049331" w="6096740">
                <a:moveTo>
                  <a:pt x="0" y="0"/>
                </a:moveTo>
                <a:lnTo>
                  <a:pt x="6096739" y="0"/>
                </a:lnTo>
                <a:lnTo>
                  <a:pt x="6096739" y="6049331"/>
                </a:lnTo>
                <a:lnTo>
                  <a:pt x="0" y="6049331"/>
                </a:lnTo>
                <a:lnTo>
                  <a:pt x="0" y="0"/>
                </a:lnTo>
                <a:close/>
              </a:path>
            </a:pathLst>
          </a:custGeom>
          <a:blipFill>
            <a:blip r:embed="rId3"/>
            <a:stretch>
              <a:fillRect l="0" t="0" r="0" b="0"/>
            </a:stretch>
          </a:blipFill>
        </p:spPr>
      </p:sp>
      <p:sp>
        <p:nvSpPr>
          <p:cNvPr name="TextBox 4" id="4"/>
          <p:cNvSpPr txBox="true"/>
          <p:nvPr/>
        </p:nvSpPr>
        <p:spPr>
          <a:xfrm rot="0">
            <a:off x="1374509" y="9258300"/>
            <a:ext cx="4904284"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INPUT DESIGN OF STORE PURCHASE</a:t>
            </a:r>
          </a:p>
        </p:txBody>
      </p:sp>
      <p:sp>
        <p:nvSpPr>
          <p:cNvPr name="TextBox 5" id="5"/>
          <p:cNvSpPr txBox="true"/>
          <p:nvPr/>
        </p:nvSpPr>
        <p:spPr>
          <a:xfrm rot="0">
            <a:off x="9887342" y="7555690"/>
            <a:ext cx="5187255" cy="304800"/>
          </a:xfrm>
          <a:prstGeom prst="rect">
            <a:avLst/>
          </a:prstGeom>
        </p:spPr>
        <p:txBody>
          <a:bodyPr anchor="t" rtlCol="false" tIns="0" lIns="0" bIns="0" rIns="0">
            <a:spAutoFit/>
          </a:bodyPr>
          <a:lstStyle/>
          <a:p>
            <a:pPr algn="ctr">
              <a:lnSpc>
                <a:spcPts val="2400"/>
              </a:lnSpc>
              <a:spcBef>
                <a:spcPct val="0"/>
              </a:spcBef>
            </a:pPr>
            <a:r>
              <a:rPr lang="en-US" b="true" sz="2000">
                <a:solidFill>
                  <a:srgbClr val="FFFFFF"/>
                </a:solidFill>
                <a:latin typeface="Montserrat Bold"/>
                <a:ea typeface="Montserrat Bold"/>
                <a:cs typeface="Montserrat Bold"/>
                <a:sym typeface="Montserrat Bold"/>
              </a:rPr>
              <a:t>OUTPUT DESIGN OF STORE PURCHASE</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314964"/>
        </a:solidFill>
      </p:bgPr>
    </p:bg>
    <p:spTree>
      <p:nvGrpSpPr>
        <p:cNvPr id="1" name=""/>
        <p:cNvGrpSpPr/>
        <p:nvPr/>
      </p:nvGrpSpPr>
      <p:grpSpPr>
        <a:xfrm>
          <a:off x="0" y="0"/>
          <a:ext cx="0" cy="0"/>
          <a:chOff x="0" y="0"/>
          <a:chExt cx="0" cy="0"/>
        </a:xfrm>
      </p:grpSpPr>
      <p:sp>
        <p:nvSpPr>
          <p:cNvPr name="TextBox 2" id="2"/>
          <p:cNvSpPr txBox="true"/>
          <p:nvPr/>
        </p:nvSpPr>
        <p:spPr>
          <a:xfrm rot="0">
            <a:off x="4221152" y="4289000"/>
            <a:ext cx="9845696" cy="1709000"/>
          </a:xfrm>
          <a:prstGeom prst="rect">
            <a:avLst/>
          </a:prstGeom>
        </p:spPr>
        <p:txBody>
          <a:bodyPr anchor="t" rtlCol="false" tIns="0" lIns="0" bIns="0" rIns="0">
            <a:spAutoFit/>
          </a:bodyPr>
          <a:lstStyle/>
          <a:p>
            <a:pPr algn="ctr">
              <a:lnSpc>
                <a:spcPts val="13476"/>
              </a:lnSpc>
              <a:spcBef>
                <a:spcPct val="0"/>
              </a:spcBef>
            </a:pPr>
            <a:r>
              <a:rPr lang="en-US" b="true" sz="11230">
                <a:solidFill>
                  <a:srgbClr val="FFFFFF"/>
                </a:solidFill>
                <a:latin typeface="Montserrat Bold"/>
                <a:ea typeface="Montserrat Bold"/>
                <a:cs typeface="Montserrat Bold"/>
                <a:sym typeface="Montserrat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DAGTj9Rg9eM</dc:identifier>
  <dcterms:modified xsi:type="dcterms:W3CDTF">2011-08-01T06:04:30Z</dcterms:modified>
  <cp:revision>1</cp:revision>
  <dc:title>SERENITY FOUNDATION</dc:title>
</cp:coreProperties>
</file>