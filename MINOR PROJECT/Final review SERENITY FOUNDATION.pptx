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Baskerville Display PT"/>
      <p:regular r:id="rId17"/>
    </p:embeddedFont>
    <p:embeddedFont>
      <p:font typeface="Inter"/>
      <p:regular r:id="rId18"/>
    </p:embeddedFont>
    <p:embeddedFont>
      <p:font typeface="Inter Bold"/>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5940835" y="757942"/>
            <a:ext cx="6078469" cy="4385558"/>
            <a:chOff x="0" y="0"/>
            <a:chExt cx="8104626" cy="5847410"/>
          </a:xfrm>
        </p:grpSpPr>
        <p:pic>
          <p:nvPicPr>
            <p:cNvPr id="3" name="Picture 3"/>
            <p:cNvPicPr>
              <a:picLocks noChangeAspect="1"/>
            </p:cNvPicPr>
            <p:nvPr/>
          </p:nvPicPr>
          <p:blipFill>
            <a:blip r:embed="rId2"/>
            <a:srcRect t="25965" b="25965"/>
            <a:stretch>
              <a:fillRect/>
            </a:stretch>
          </p:blipFill>
          <p:spPr>
            <a:xfrm>
              <a:off x="0" y="0"/>
              <a:ext cx="8104626" cy="5847410"/>
            </a:xfrm>
            <a:prstGeom prst="rect">
              <a:avLst/>
            </a:prstGeom>
          </p:spPr>
        </p:pic>
      </p:grpSp>
      <p:sp>
        <p:nvSpPr>
          <p:cNvPr id="4" name="Freeform 4"/>
          <p:cNvSpPr/>
          <p:nvPr/>
        </p:nvSpPr>
        <p:spPr>
          <a:xfrm>
            <a:off x="-1180602" y="-2184842"/>
            <a:ext cx="6814061" cy="6814061"/>
          </a:xfrm>
          <a:custGeom>
            <a:avLst/>
            <a:gdLst/>
            <a:ahLst/>
            <a:cxnLst/>
            <a:rect l="l" t="t" r="r" b="b"/>
            <a:pathLst>
              <a:path w="6814061" h="6814061">
                <a:moveTo>
                  <a:pt x="0" y="0"/>
                </a:moveTo>
                <a:lnTo>
                  <a:pt x="6814061" y="0"/>
                </a:lnTo>
                <a:lnTo>
                  <a:pt x="6814061" y="6814061"/>
                </a:lnTo>
                <a:lnTo>
                  <a:pt x="0" y="6814061"/>
                </a:lnTo>
                <a:lnTo>
                  <a:pt x="0" y="0"/>
                </a:lnTo>
                <a:close/>
              </a:path>
            </a:pathLst>
          </a:custGeom>
          <a:blipFill>
            <a:blip r:embed="rId3"/>
            <a:stretch>
              <a:fillRect/>
            </a:stretch>
          </a:blipFill>
        </p:spPr>
      </p:sp>
      <p:sp>
        <p:nvSpPr>
          <p:cNvPr id="5" name="TextBox 5"/>
          <p:cNvSpPr txBox="1"/>
          <p:nvPr/>
        </p:nvSpPr>
        <p:spPr>
          <a:xfrm>
            <a:off x="0" y="5365141"/>
            <a:ext cx="18288000" cy="1177844"/>
          </a:xfrm>
          <a:prstGeom prst="rect">
            <a:avLst/>
          </a:prstGeom>
        </p:spPr>
        <p:txBody>
          <a:bodyPr lIns="0" tIns="0" rIns="0" bIns="0" rtlCol="0" anchor="t">
            <a:spAutoFit/>
          </a:bodyPr>
          <a:lstStyle/>
          <a:p>
            <a:pPr algn="ctr">
              <a:lnSpc>
                <a:spcPts val="9629"/>
              </a:lnSpc>
            </a:pPr>
            <a:r>
              <a:rPr lang="en-US" sz="6878" spc="1375">
                <a:solidFill>
                  <a:srgbClr val="504C44"/>
                </a:solidFill>
                <a:latin typeface="Baskerville Display PT"/>
                <a:ea typeface="Baskerville Display PT"/>
                <a:cs typeface="Baskerville Display PT"/>
                <a:sym typeface="Baskerville Display PT"/>
              </a:rPr>
              <a:t>SERENITY FOUNDATION</a:t>
            </a:r>
          </a:p>
        </p:txBody>
      </p:sp>
      <p:sp>
        <p:nvSpPr>
          <p:cNvPr id="6" name="TextBox 6"/>
          <p:cNvSpPr txBox="1"/>
          <p:nvPr/>
        </p:nvSpPr>
        <p:spPr>
          <a:xfrm>
            <a:off x="1028700" y="7584738"/>
            <a:ext cx="6593314" cy="1673562"/>
          </a:xfrm>
          <a:prstGeom prst="rect">
            <a:avLst/>
          </a:prstGeom>
        </p:spPr>
        <p:txBody>
          <a:bodyPr lIns="0" tIns="0" rIns="0" bIns="0" rtlCol="0" anchor="t">
            <a:spAutoFit/>
          </a:bodyPr>
          <a:lstStyle/>
          <a:p>
            <a:pPr algn="l">
              <a:lnSpc>
                <a:spcPts val="3306"/>
              </a:lnSpc>
            </a:pPr>
            <a:r>
              <a:rPr lang="en-US" sz="2361" spc="472">
                <a:solidFill>
                  <a:srgbClr val="504C44"/>
                </a:solidFill>
                <a:latin typeface="Inter"/>
                <a:ea typeface="Inter"/>
                <a:cs typeface="Inter"/>
                <a:sym typeface="Inter"/>
              </a:rPr>
              <a:t>PRESENTED BY-</a:t>
            </a:r>
          </a:p>
          <a:p>
            <a:pPr algn="l">
              <a:lnSpc>
                <a:spcPts val="3306"/>
              </a:lnSpc>
            </a:pPr>
            <a:r>
              <a:rPr lang="en-US" sz="2361" spc="472">
                <a:solidFill>
                  <a:srgbClr val="504C44"/>
                </a:solidFill>
                <a:latin typeface="Inter"/>
                <a:ea typeface="Inter"/>
                <a:cs typeface="Inter"/>
                <a:sym typeface="Inter"/>
              </a:rPr>
              <a:t>NAIR SWAPNA SASIDHARAN (62)</a:t>
            </a:r>
          </a:p>
          <a:p>
            <a:pPr algn="l">
              <a:lnSpc>
                <a:spcPts val="3306"/>
              </a:lnSpc>
            </a:pPr>
            <a:r>
              <a:rPr lang="en-US" sz="2361" spc="472">
                <a:solidFill>
                  <a:srgbClr val="504C44"/>
                </a:solidFill>
                <a:latin typeface="Inter"/>
                <a:ea typeface="Inter"/>
                <a:cs typeface="Inter"/>
                <a:sym typeface="Inter"/>
              </a:rPr>
              <a:t>AKSHAYA POOJA A P(14)</a:t>
            </a:r>
          </a:p>
          <a:p>
            <a:pPr algn="l">
              <a:lnSpc>
                <a:spcPts val="3306"/>
              </a:lnSpc>
            </a:pPr>
            <a:r>
              <a:rPr lang="en-US" sz="2361" spc="472">
                <a:solidFill>
                  <a:srgbClr val="504C44"/>
                </a:solidFill>
                <a:latin typeface="Inter"/>
                <a:ea typeface="Inter"/>
                <a:cs typeface="Inter"/>
                <a:sym typeface="Inter"/>
              </a:rPr>
              <a:t>PARVATHY NAIR S (76)</a:t>
            </a:r>
          </a:p>
        </p:txBody>
      </p:sp>
      <p:sp>
        <p:nvSpPr>
          <p:cNvPr id="7" name="TextBox 7"/>
          <p:cNvSpPr txBox="1"/>
          <p:nvPr/>
        </p:nvSpPr>
        <p:spPr>
          <a:xfrm>
            <a:off x="13902134" y="8422938"/>
            <a:ext cx="3357166" cy="835362"/>
          </a:xfrm>
          <a:prstGeom prst="rect">
            <a:avLst/>
          </a:prstGeom>
        </p:spPr>
        <p:txBody>
          <a:bodyPr lIns="0" tIns="0" rIns="0" bIns="0" rtlCol="0" anchor="t">
            <a:spAutoFit/>
          </a:bodyPr>
          <a:lstStyle/>
          <a:p>
            <a:pPr algn="l">
              <a:lnSpc>
                <a:spcPts val="3306"/>
              </a:lnSpc>
            </a:pPr>
            <a:r>
              <a:rPr lang="en-US" sz="2361" spc="472">
                <a:solidFill>
                  <a:srgbClr val="504C44"/>
                </a:solidFill>
                <a:latin typeface="Inter"/>
                <a:ea typeface="Inter"/>
                <a:cs typeface="Inter"/>
                <a:sym typeface="Inter"/>
              </a:rPr>
              <a:t>GUIDE-</a:t>
            </a:r>
          </a:p>
          <a:p>
            <a:pPr algn="l">
              <a:lnSpc>
                <a:spcPts val="3306"/>
              </a:lnSpc>
              <a:spcBef>
                <a:spcPct val="0"/>
              </a:spcBef>
            </a:pPr>
            <a:r>
              <a:rPr lang="en-US" sz="2361" spc="472">
                <a:solidFill>
                  <a:srgbClr val="504C44"/>
                </a:solidFill>
                <a:latin typeface="Inter"/>
                <a:ea typeface="Inter"/>
                <a:cs typeface="Inter"/>
                <a:sym typeface="Inter"/>
              </a:rPr>
              <a:t>MRS. APARNA PV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982366" y="3811074"/>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About Our Project</a:t>
            </a:r>
          </a:p>
        </p:txBody>
      </p:sp>
      <p:sp>
        <p:nvSpPr>
          <p:cNvPr id="3" name="TextBox 3"/>
          <p:cNvSpPr txBox="1"/>
          <p:nvPr/>
        </p:nvSpPr>
        <p:spPr>
          <a:xfrm>
            <a:off x="1646482" y="3492605"/>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01</a:t>
            </a:r>
          </a:p>
        </p:txBody>
      </p:sp>
      <p:sp>
        <p:nvSpPr>
          <p:cNvPr id="4" name="TextBox 4"/>
          <p:cNvSpPr txBox="1"/>
          <p:nvPr/>
        </p:nvSpPr>
        <p:spPr>
          <a:xfrm>
            <a:off x="2982366" y="502100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Existing System and its demerits</a:t>
            </a:r>
          </a:p>
        </p:txBody>
      </p:sp>
      <p:sp>
        <p:nvSpPr>
          <p:cNvPr id="5" name="TextBox 5"/>
          <p:cNvSpPr txBox="1"/>
          <p:nvPr/>
        </p:nvSpPr>
        <p:spPr>
          <a:xfrm>
            <a:off x="1646482" y="470253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02</a:t>
            </a:r>
          </a:p>
        </p:txBody>
      </p:sp>
      <p:sp>
        <p:nvSpPr>
          <p:cNvPr id="6" name="TextBox 6"/>
          <p:cNvSpPr txBox="1"/>
          <p:nvPr/>
        </p:nvSpPr>
        <p:spPr>
          <a:xfrm>
            <a:off x="2982366" y="622750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Proposed System </a:t>
            </a:r>
          </a:p>
        </p:txBody>
      </p:sp>
      <p:sp>
        <p:nvSpPr>
          <p:cNvPr id="7" name="TextBox 7"/>
          <p:cNvSpPr txBox="1"/>
          <p:nvPr/>
        </p:nvSpPr>
        <p:spPr>
          <a:xfrm>
            <a:off x="1646482" y="591538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03</a:t>
            </a:r>
          </a:p>
        </p:txBody>
      </p:sp>
      <p:sp>
        <p:nvSpPr>
          <p:cNvPr id="8" name="TextBox 8"/>
          <p:cNvSpPr txBox="1"/>
          <p:nvPr/>
        </p:nvSpPr>
        <p:spPr>
          <a:xfrm>
            <a:off x="2982366" y="744670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Module Names and System Users</a:t>
            </a:r>
          </a:p>
        </p:txBody>
      </p:sp>
      <p:sp>
        <p:nvSpPr>
          <p:cNvPr id="9" name="TextBox 9"/>
          <p:cNvSpPr txBox="1"/>
          <p:nvPr/>
        </p:nvSpPr>
        <p:spPr>
          <a:xfrm>
            <a:off x="1646482" y="712823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04</a:t>
            </a:r>
          </a:p>
        </p:txBody>
      </p:sp>
      <p:sp>
        <p:nvSpPr>
          <p:cNvPr id="10" name="TextBox 10"/>
          <p:cNvSpPr txBox="1"/>
          <p:nvPr/>
        </p:nvSpPr>
        <p:spPr>
          <a:xfrm>
            <a:off x="4421981" y="2163050"/>
            <a:ext cx="9244012" cy="669925"/>
          </a:xfrm>
          <a:prstGeom prst="rect">
            <a:avLst/>
          </a:prstGeom>
        </p:spPr>
        <p:txBody>
          <a:bodyPr lIns="0" tIns="0" rIns="0" bIns="0" rtlCol="0" anchor="t">
            <a:spAutoFit/>
          </a:bodyPr>
          <a:lstStyle/>
          <a:p>
            <a:pPr algn="ctr">
              <a:lnSpc>
                <a:spcPts val="5599"/>
              </a:lnSpc>
            </a:pPr>
            <a:r>
              <a:rPr lang="en-US" sz="3999" spc="799">
                <a:solidFill>
                  <a:srgbClr val="504C44"/>
                </a:solidFill>
                <a:latin typeface="Baskerville Display PT"/>
                <a:ea typeface="Baskerville Display PT"/>
                <a:cs typeface="Baskerville Display PT"/>
                <a:sym typeface="Baskerville Display PT"/>
              </a:rPr>
              <a:t>TABLE OF CONTENTS</a:t>
            </a:r>
          </a:p>
        </p:txBody>
      </p:sp>
      <p:sp>
        <p:nvSpPr>
          <p:cNvPr id="11" name="TextBox 11"/>
          <p:cNvSpPr txBox="1"/>
          <p:nvPr/>
        </p:nvSpPr>
        <p:spPr>
          <a:xfrm>
            <a:off x="10752437" y="3634861"/>
            <a:ext cx="5827114" cy="701675"/>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Diagrams (ER diagram,DFD,System Architecture)</a:t>
            </a:r>
          </a:p>
        </p:txBody>
      </p:sp>
      <p:sp>
        <p:nvSpPr>
          <p:cNvPr id="12" name="TextBox 12"/>
          <p:cNvSpPr txBox="1"/>
          <p:nvPr/>
        </p:nvSpPr>
        <p:spPr>
          <a:xfrm>
            <a:off x="9478520" y="3492605"/>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05</a:t>
            </a:r>
          </a:p>
        </p:txBody>
      </p:sp>
      <p:sp>
        <p:nvSpPr>
          <p:cNvPr id="13" name="TextBox 13"/>
          <p:cNvSpPr txBox="1"/>
          <p:nvPr/>
        </p:nvSpPr>
        <p:spPr>
          <a:xfrm>
            <a:off x="10814404" y="502100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Screenshots of Our System</a:t>
            </a:r>
          </a:p>
        </p:txBody>
      </p:sp>
      <p:sp>
        <p:nvSpPr>
          <p:cNvPr id="14" name="TextBox 14"/>
          <p:cNvSpPr txBox="1"/>
          <p:nvPr/>
        </p:nvSpPr>
        <p:spPr>
          <a:xfrm>
            <a:off x="9478520" y="470253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06</a:t>
            </a:r>
          </a:p>
        </p:txBody>
      </p:sp>
      <p:sp>
        <p:nvSpPr>
          <p:cNvPr id="15" name="TextBox 15"/>
          <p:cNvSpPr txBox="1"/>
          <p:nvPr/>
        </p:nvSpPr>
        <p:spPr>
          <a:xfrm>
            <a:off x="9478520" y="591538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07</a:t>
            </a:r>
          </a:p>
        </p:txBody>
      </p:sp>
      <p:sp>
        <p:nvSpPr>
          <p:cNvPr id="16" name="TextBox 16"/>
          <p:cNvSpPr txBox="1"/>
          <p:nvPr/>
        </p:nvSpPr>
        <p:spPr>
          <a:xfrm>
            <a:off x="10752437" y="623385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Conclusion</a:t>
            </a:r>
          </a:p>
        </p:txBody>
      </p:sp>
      <p:sp>
        <p:nvSpPr>
          <p:cNvPr id="17" name="TextBox 17"/>
          <p:cNvSpPr txBox="1"/>
          <p:nvPr/>
        </p:nvSpPr>
        <p:spPr>
          <a:xfrm>
            <a:off x="9478520" y="7128237"/>
            <a:ext cx="1135110" cy="929037"/>
          </a:xfrm>
          <a:prstGeom prst="rect">
            <a:avLst/>
          </a:prstGeom>
        </p:spPr>
        <p:txBody>
          <a:bodyPr lIns="0" tIns="0" rIns="0" bIns="0" rtlCol="0" anchor="t">
            <a:spAutoFit/>
          </a:bodyPr>
          <a:lstStyle/>
          <a:p>
            <a:pPr algn="ctr">
              <a:lnSpc>
                <a:spcPts val="7593"/>
              </a:lnSpc>
            </a:pPr>
            <a:r>
              <a:rPr lang="en-US" sz="5423">
                <a:solidFill>
                  <a:srgbClr val="504C44">
                    <a:alpha val="19608"/>
                  </a:srgbClr>
                </a:solidFill>
                <a:latin typeface="Inter"/>
                <a:ea typeface="Inter"/>
                <a:cs typeface="Inter"/>
                <a:sym typeface="Inter"/>
              </a:rPr>
              <a:t>08</a:t>
            </a:r>
          </a:p>
        </p:txBody>
      </p:sp>
      <p:sp>
        <p:nvSpPr>
          <p:cNvPr id="18" name="TextBox 18"/>
          <p:cNvSpPr txBox="1"/>
          <p:nvPr/>
        </p:nvSpPr>
        <p:spPr>
          <a:xfrm>
            <a:off x="10813655" y="7421306"/>
            <a:ext cx="5827114" cy="349250"/>
          </a:xfrm>
          <a:prstGeom prst="rect">
            <a:avLst/>
          </a:prstGeom>
        </p:spPr>
        <p:txBody>
          <a:bodyPr lIns="0" tIns="0" rIns="0" bIns="0" rtlCol="0" anchor="t">
            <a:spAutoFit/>
          </a:bodyPr>
          <a:lstStyle/>
          <a:p>
            <a:pPr algn="l">
              <a:lnSpc>
                <a:spcPts val="2800"/>
              </a:lnSpc>
            </a:pPr>
            <a:r>
              <a:rPr lang="en-US" sz="2000">
                <a:solidFill>
                  <a:srgbClr val="504C44"/>
                </a:solidFill>
                <a:latin typeface="Inter"/>
                <a:ea typeface="Inter"/>
                <a:cs typeface="Inter"/>
                <a:sym typeface="Inter"/>
              </a:rPr>
              <a:t>Scope for Further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4" name="TextBox 4"/>
          <p:cNvSpPr txBox="1"/>
          <p:nvPr/>
        </p:nvSpPr>
        <p:spPr>
          <a:xfrm>
            <a:off x="8305800" y="4914900"/>
            <a:ext cx="9417711" cy="4162585"/>
          </a:xfrm>
          <a:prstGeom prst="rect">
            <a:avLst/>
          </a:prstGeom>
        </p:spPr>
        <p:txBody>
          <a:bodyPr lIns="0" tIns="0" rIns="0" bIns="0" rtlCol="0" anchor="t">
            <a:spAutoFit/>
          </a:bodyPr>
          <a:lstStyle/>
          <a:p>
            <a:pPr algn="just">
              <a:lnSpc>
                <a:spcPts val="3367"/>
              </a:lnSpc>
            </a:pPr>
            <a:r>
              <a:rPr lang="en-US" sz="2405" dirty="0">
                <a:solidFill>
                  <a:srgbClr val="504C44"/>
                </a:solidFill>
                <a:latin typeface="Inter"/>
                <a:ea typeface="Inter"/>
                <a:cs typeface="Inter"/>
                <a:sym typeface="Inter"/>
              </a:rPr>
              <a:t>The project seeks to develop a comprehensive software system designed to streamline the management of orphanages and elder care facilities. This system will serve as a centralized platform for handling various aspects of facility operations, including resident records, donation information, medical records, and educational records. By automating and organizing these tasks, the system aims to enhance efficiency, reduce administrative burdens, and ultimately improve the overall quality of care provided to residents.</a:t>
            </a:r>
          </a:p>
          <a:p>
            <a:pPr algn="l">
              <a:lnSpc>
                <a:spcPts val="3367"/>
              </a:lnSpc>
            </a:pPr>
            <a:endParaRPr lang="en-US" sz="2405" dirty="0">
              <a:solidFill>
                <a:srgbClr val="504C44"/>
              </a:solidFill>
              <a:latin typeface="Inter"/>
              <a:ea typeface="Inter"/>
              <a:cs typeface="Inter"/>
              <a:sym typeface="Inter"/>
            </a:endParaRPr>
          </a:p>
        </p:txBody>
      </p:sp>
      <p:sp>
        <p:nvSpPr>
          <p:cNvPr id="5" name="TextBox 5"/>
          <p:cNvSpPr txBox="1"/>
          <p:nvPr/>
        </p:nvSpPr>
        <p:spPr>
          <a:xfrm>
            <a:off x="8458200" y="3924300"/>
            <a:ext cx="7483774" cy="669925"/>
          </a:xfrm>
          <a:prstGeom prst="rect">
            <a:avLst/>
          </a:prstGeom>
        </p:spPr>
        <p:txBody>
          <a:bodyPr lIns="0" tIns="0" rIns="0" bIns="0" rtlCol="0" anchor="t">
            <a:spAutoFit/>
          </a:bodyPr>
          <a:lstStyle/>
          <a:p>
            <a:pPr algn="l">
              <a:lnSpc>
                <a:spcPts val="5599"/>
              </a:lnSpc>
            </a:pPr>
            <a:r>
              <a:rPr lang="en-US" sz="3999" spc="799" dirty="0">
                <a:solidFill>
                  <a:srgbClr val="504C44"/>
                </a:solidFill>
                <a:latin typeface="Baskerville Display PT"/>
                <a:ea typeface="Baskerville Display PT"/>
                <a:cs typeface="Baskerville Display PT"/>
                <a:sym typeface="Baskerville Display PT"/>
              </a:rPr>
              <a:t>ABOUT OUR PROJECT</a:t>
            </a:r>
          </a:p>
        </p:txBody>
      </p:sp>
      <p:pic>
        <p:nvPicPr>
          <p:cNvPr id="6" name="Picture 3">
            <a:extLst>
              <a:ext uri="{FF2B5EF4-FFF2-40B4-BE49-F238E27FC236}">
                <a16:creationId xmlns:a16="http://schemas.microsoft.com/office/drawing/2014/main" id="{3B7C1A37-D697-71C0-ED36-4B3F552760AA}"/>
              </a:ext>
            </a:extLst>
          </p:cNvPr>
          <p:cNvPicPr>
            <a:picLocks noChangeAspect="1"/>
          </p:cNvPicPr>
          <p:nvPr/>
        </p:nvPicPr>
        <p:blipFill>
          <a:blip r:embed="rId2"/>
          <a:srcRect t="14617" b="14617"/>
          <a:stretch>
            <a:fillRect/>
          </a:stretch>
        </p:blipFill>
        <p:spPr>
          <a:xfrm>
            <a:off x="533400" y="1028700"/>
            <a:ext cx="7403912" cy="46934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1454426" y="4048125"/>
            <a:ext cx="5224410" cy="5077556"/>
            <a:chOff x="0" y="0"/>
            <a:chExt cx="6965880" cy="6770075"/>
          </a:xfrm>
        </p:grpSpPr>
        <p:pic>
          <p:nvPicPr>
            <p:cNvPr id="3" name="Picture 3"/>
            <p:cNvPicPr>
              <a:picLocks noChangeAspect="1"/>
            </p:cNvPicPr>
            <p:nvPr/>
          </p:nvPicPr>
          <p:blipFill>
            <a:blip r:embed="rId2"/>
            <a:srcRect t="17578" b="17578"/>
            <a:stretch>
              <a:fillRect/>
            </a:stretch>
          </p:blipFill>
          <p:spPr>
            <a:xfrm>
              <a:off x="0" y="0"/>
              <a:ext cx="6965880" cy="6770075"/>
            </a:xfrm>
            <a:prstGeom prst="rect">
              <a:avLst/>
            </a:prstGeom>
          </p:spPr>
        </p:pic>
      </p:grpSp>
      <p:sp>
        <p:nvSpPr>
          <p:cNvPr id="4" name="TextBox 4"/>
          <p:cNvSpPr txBox="1"/>
          <p:nvPr/>
        </p:nvSpPr>
        <p:spPr>
          <a:xfrm>
            <a:off x="1028700" y="742950"/>
            <a:ext cx="16230600" cy="669925"/>
          </a:xfrm>
          <a:prstGeom prst="rect">
            <a:avLst/>
          </a:prstGeom>
        </p:spPr>
        <p:txBody>
          <a:bodyPr lIns="0" tIns="0" rIns="0" bIns="0" rtlCol="0" anchor="t">
            <a:spAutoFit/>
          </a:bodyPr>
          <a:lstStyle/>
          <a:p>
            <a:pPr algn="ctr">
              <a:lnSpc>
                <a:spcPts val="5599"/>
              </a:lnSpc>
            </a:pPr>
            <a:r>
              <a:rPr lang="en-US" sz="3999" spc="799">
                <a:solidFill>
                  <a:srgbClr val="504C44"/>
                </a:solidFill>
                <a:latin typeface="Baskerville Display PT"/>
                <a:ea typeface="Baskerville Display PT"/>
                <a:cs typeface="Baskerville Display PT"/>
                <a:sym typeface="Baskerville Display PT"/>
              </a:rPr>
              <a:t>EXISTING SYSTEMS AND ITS DEMERITS</a:t>
            </a:r>
          </a:p>
        </p:txBody>
      </p:sp>
      <p:sp>
        <p:nvSpPr>
          <p:cNvPr id="5" name="TextBox 5"/>
          <p:cNvSpPr txBox="1"/>
          <p:nvPr/>
        </p:nvSpPr>
        <p:spPr>
          <a:xfrm>
            <a:off x="1028700" y="1827213"/>
            <a:ext cx="16230600" cy="1758950"/>
          </a:xfrm>
          <a:prstGeom prst="rect">
            <a:avLst/>
          </a:prstGeom>
        </p:spPr>
        <p:txBody>
          <a:bodyPr lIns="0" tIns="0" rIns="0" bIns="0" rtlCol="0" anchor="t">
            <a:spAutoFit/>
          </a:bodyPr>
          <a:lstStyle/>
          <a:p>
            <a:pPr algn="just">
              <a:lnSpc>
                <a:spcPts val="2800"/>
              </a:lnSpc>
            </a:pPr>
            <a:r>
              <a:rPr lang="en-US" sz="2000">
                <a:solidFill>
                  <a:srgbClr val="504C44"/>
                </a:solidFill>
                <a:latin typeface="Inter"/>
                <a:ea typeface="Inter"/>
                <a:cs typeface="Inter"/>
                <a:sym typeface="Inter"/>
              </a:rPr>
              <a:t>In India, orphanages and elder care facilities currently utilize manual data management processes, relying on paper-based records and spreadsheets, which can lead to errors, inefficiencies, and scalability limitations. This approach hinders the generation of comprehensive reports and data analysis, ultimately impacting informed decision making. Furthermore, their online presence is often characterized by poor website design, outdated information, and a lack of empathy. </a:t>
            </a:r>
          </a:p>
          <a:p>
            <a:pPr algn="just">
              <a:lnSpc>
                <a:spcPts val="2800"/>
              </a:lnSpc>
            </a:pPr>
            <a:endParaRPr lang="en-US" sz="2000">
              <a:solidFill>
                <a:srgbClr val="504C44"/>
              </a:solidFill>
              <a:latin typeface="Inter"/>
              <a:ea typeface="Inter"/>
              <a:cs typeface="Inter"/>
              <a:sym typeface="Inter"/>
            </a:endParaRPr>
          </a:p>
        </p:txBody>
      </p:sp>
      <p:sp>
        <p:nvSpPr>
          <p:cNvPr id="6" name="TextBox 6"/>
          <p:cNvSpPr txBox="1"/>
          <p:nvPr/>
        </p:nvSpPr>
        <p:spPr>
          <a:xfrm>
            <a:off x="1028700" y="5324475"/>
            <a:ext cx="7093015" cy="3259052"/>
          </a:xfrm>
          <a:prstGeom prst="rect">
            <a:avLst/>
          </a:prstGeom>
        </p:spPr>
        <p:txBody>
          <a:bodyPr lIns="0" tIns="0" rIns="0" bIns="0" rtlCol="0" anchor="t">
            <a:spAutoFit/>
          </a:bodyPr>
          <a:lstStyle/>
          <a:p>
            <a:pPr algn="l">
              <a:lnSpc>
                <a:spcPts val="2596"/>
              </a:lnSpc>
            </a:pPr>
            <a:r>
              <a:rPr lang="en-US" sz="1854">
                <a:solidFill>
                  <a:srgbClr val="504C44"/>
                </a:solidFill>
                <a:latin typeface="Inter"/>
                <a:ea typeface="Inter"/>
                <a:cs typeface="Inter"/>
                <a:sym typeface="Inter"/>
              </a:rPr>
              <a:t>- Error-prone and inefficient processes </a:t>
            </a:r>
          </a:p>
          <a:p>
            <a:pPr algn="l">
              <a:lnSpc>
                <a:spcPts val="2596"/>
              </a:lnSpc>
            </a:pPr>
            <a:endParaRPr lang="en-US" sz="1854">
              <a:solidFill>
                <a:srgbClr val="504C44"/>
              </a:solidFill>
              <a:latin typeface="Inter"/>
              <a:ea typeface="Inter"/>
              <a:cs typeface="Inter"/>
              <a:sym typeface="Inter"/>
            </a:endParaRPr>
          </a:p>
          <a:p>
            <a:pPr algn="l">
              <a:lnSpc>
                <a:spcPts val="2596"/>
              </a:lnSpc>
            </a:pPr>
            <a:r>
              <a:rPr lang="en-US" sz="1854">
                <a:solidFill>
                  <a:srgbClr val="504C44"/>
                </a:solidFill>
                <a:latin typeface="Inter"/>
                <a:ea typeface="Inter"/>
                <a:cs typeface="Inter"/>
                <a:sym typeface="Inter"/>
              </a:rPr>
              <a:t>- Limited scalability and reporting capabilities </a:t>
            </a:r>
          </a:p>
          <a:p>
            <a:pPr algn="l">
              <a:lnSpc>
                <a:spcPts val="2596"/>
              </a:lnSpc>
            </a:pPr>
            <a:endParaRPr lang="en-US" sz="1854">
              <a:solidFill>
                <a:srgbClr val="504C44"/>
              </a:solidFill>
              <a:latin typeface="Inter"/>
              <a:ea typeface="Inter"/>
              <a:cs typeface="Inter"/>
              <a:sym typeface="Inter"/>
            </a:endParaRPr>
          </a:p>
          <a:p>
            <a:pPr algn="l">
              <a:lnSpc>
                <a:spcPts val="2596"/>
              </a:lnSpc>
            </a:pPr>
            <a:r>
              <a:rPr lang="en-US" sz="1854">
                <a:solidFill>
                  <a:srgbClr val="504C44"/>
                </a:solidFill>
                <a:latin typeface="Inter"/>
                <a:ea typeface="Inter"/>
                <a:cs typeface="Inter"/>
                <a:sym typeface="Inter"/>
              </a:rPr>
              <a:t>- Inadequate data analysis and decision support </a:t>
            </a:r>
          </a:p>
          <a:p>
            <a:pPr algn="l">
              <a:lnSpc>
                <a:spcPts val="2596"/>
              </a:lnSpc>
            </a:pPr>
            <a:endParaRPr lang="en-US" sz="1854">
              <a:solidFill>
                <a:srgbClr val="504C44"/>
              </a:solidFill>
              <a:latin typeface="Inter"/>
              <a:ea typeface="Inter"/>
              <a:cs typeface="Inter"/>
              <a:sym typeface="Inter"/>
            </a:endParaRPr>
          </a:p>
          <a:p>
            <a:pPr algn="l">
              <a:lnSpc>
                <a:spcPts val="2596"/>
              </a:lnSpc>
            </a:pPr>
            <a:r>
              <a:rPr lang="en-US" sz="1854">
                <a:solidFill>
                  <a:srgbClr val="504C44"/>
                </a:solidFill>
                <a:latin typeface="Inter"/>
                <a:ea typeface="Inter"/>
                <a:cs typeface="Inter"/>
                <a:sym typeface="Inter"/>
              </a:rPr>
              <a:t>- Poor online presence and user experience  </a:t>
            </a:r>
          </a:p>
          <a:p>
            <a:pPr algn="l">
              <a:lnSpc>
                <a:spcPts val="2596"/>
              </a:lnSpc>
            </a:pPr>
            <a:endParaRPr lang="en-US" sz="1854">
              <a:solidFill>
                <a:srgbClr val="504C44"/>
              </a:solidFill>
              <a:latin typeface="Inter"/>
              <a:ea typeface="Inter"/>
              <a:cs typeface="Inter"/>
              <a:sym typeface="Inter"/>
            </a:endParaRPr>
          </a:p>
          <a:p>
            <a:pPr algn="l">
              <a:lnSpc>
                <a:spcPts val="2596"/>
              </a:lnSpc>
            </a:pPr>
            <a:r>
              <a:rPr lang="en-US" sz="1854">
                <a:solidFill>
                  <a:srgbClr val="504C44"/>
                </a:solidFill>
                <a:latin typeface="Inter"/>
                <a:ea typeface="Inter"/>
                <a:cs typeface="Inter"/>
                <a:sym typeface="Inter"/>
              </a:rPr>
              <a:t>- Outdated and inaccurate information </a:t>
            </a:r>
          </a:p>
          <a:p>
            <a:pPr algn="l">
              <a:lnSpc>
                <a:spcPts val="2596"/>
              </a:lnSpc>
            </a:pPr>
            <a:endParaRPr lang="en-US" sz="1854">
              <a:solidFill>
                <a:srgbClr val="504C44"/>
              </a:solidFill>
              <a:latin typeface="Inter"/>
              <a:ea typeface="Inter"/>
              <a:cs typeface="Inter"/>
              <a:sym typeface="Inter"/>
            </a:endParaRPr>
          </a:p>
        </p:txBody>
      </p:sp>
      <p:sp>
        <p:nvSpPr>
          <p:cNvPr id="7" name="TextBox 7"/>
          <p:cNvSpPr txBox="1"/>
          <p:nvPr/>
        </p:nvSpPr>
        <p:spPr>
          <a:xfrm>
            <a:off x="1028700" y="4721225"/>
            <a:ext cx="2029147" cy="422275"/>
          </a:xfrm>
          <a:prstGeom prst="rect">
            <a:avLst/>
          </a:prstGeom>
        </p:spPr>
        <p:txBody>
          <a:bodyPr lIns="0" tIns="0" rIns="0" bIns="0" rtlCol="0" anchor="t">
            <a:spAutoFit/>
          </a:bodyPr>
          <a:lstStyle/>
          <a:p>
            <a:pPr algn="l">
              <a:lnSpc>
                <a:spcPts val="3499"/>
              </a:lnSpc>
            </a:pPr>
            <a:r>
              <a:rPr lang="en-US" sz="2499" b="1">
                <a:solidFill>
                  <a:srgbClr val="504C44"/>
                </a:solidFill>
                <a:latin typeface="Inter Bold"/>
                <a:ea typeface="Inter Bold"/>
                <a:cs typeface="Inter Bold"/>
                <a:sym typeface="Inter Bold"/>
              </a:rPr>
              <a:t>Demerits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289861" y="1028700"/>
            <a:ext cx="11397298" cy="8229600"/>
            <a:chOff x="0" y="0"/>
            <a:chExt cx="3001758" cy="2167467"/>
          </a:xfrm>
        </p:grpSpPr>
        <p:sp>
          <p:nvSpPr>
            <p:cNvPr id="3" name="Freeform 3"/>
            <p:cNvSpPr/>
            <p:nvPr/>
          </p:nvSpPr>
          <p:spPr>
            <a:xfrm>
              <a:off x="0" y="0"/>
              <a:ext cx="3001757" cy="2167467"/>
            </a:xfrm>
            <a:custGeom>
              <a:avLst/>
              <a:gdLst/>
              <a:ahLst/>
              <a:cxnLst/>
              <a:rect l="l" t="t" r="r" b="b"/>
              <a:pathLst>
                <a:path w="3001757" h="2167467">
                  <a:moveTo>
                    <a:pt x="0" y="0"/>
                  </a:moveTo>
                  <a:lnTo>
                    <a:pt x="3001757" y="0"/>
                  </a:lnTo>
                  <a:lnTo>
                    <a:pt x="3001757" y="2167467"/>
                  </a:lnTo>
                  <a:lnTo>
                    <a:pt x="0" y="2167467"/>
                  </a:lnTo>
                  <a:close/>
                </a:path>
              </a:pathLst>
            </a:custGeom>
            <a:solidFill>
              <a:srgbClr val="F1EDE9"/>
            </a:solidFill>
          </p:spPr>
        </p:sp>
        <p:sp>
          <p:nvSpPr>
            <p:cNvPr id="4" name="TextBox 4"/>
            <p:cNvSpPr txBox="1"/>
            <p:nvPr/>
          </p:nvSpPr>
          <p:spPr>
            <a:xfrm>
              <a:off x="0" y="-47625"/>
              <a:ext cx="3001758" cy="221509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1376181" y="3223716"/>
            <a:ext cx="4621958" cy="3839568"/>
            <a:chOff x="0" y="0"/>
            <a:chExt cx="6162611" cy="5119424"/>
          </a:xfrm>
        </p:grpSpPr>
        <p:pic>
          <p:nvPicPr>
            <p:cNvPr id="6" name="Picture 6"/>
            <p:cNvPicPr>
              <a:picLocks noChangeAspect="1"/>
            </p:cNvPicPr>
            <p:nvPr/>
          </p:nvPicPr>
          <p:blipFill>
            <a:blip r:embed="rId2"/>
            <a:srcRect t="8463" b="8463"/>
            <a:stretch>
              <a:fillRect/>
            </a:stretch>
          </p:blipFill>
          <p:spPr>
            <a:xfrm>
              <a:off x="0" y="0"/>
              <a:ext cx="6162611" cy="5119424"/>
            </a:xfrm>
            <a:prstGeom prst="rect">
              <a:avLst/>
            </a:prstGeom>
          </p:spPr>
        </p:pic>
      </p:grpSp>
      <p:sp>
        <p:nvSpPr>
          <p:cNvPr id="7" name="TextBox 7"/>
          <p:cNvSpPr txBox="1"/>
          <p:nvPr/>
        </p:nvSpPr>
        <p:spPr>
          <a:xfrm>
            <a:off x="3251785" y="2553791"/>
            <a:ext cx="6878441" cy="669925"/>
          </a:xfrm>
          <a:prstGeom prst="rect">
            <a:avLst/>
          </a:prstGeom>
        </p:spPr>
        <p:txBody>
          <a:bodyPr lIns="0" tIns="0" rIns="0" bIns="0" rtlCol="0" anchor="t">
            <a:spAutoFit/>
          </a:bodyPr>
          <a:lstStyle/>
          <a:p>
            <a:pPr algn="l">
              <a:lnSpc>
                <a:spcPts val="5599"/>
              </a:lnSpc>
            </a:pPr>
            <a:r>
              <a:rPr lang="en-US" sz="3999" spc="799">
                <a:solidFill>
                  <a:srgbClr val="504C44"/>
                </a:solidFill>
                <a:latin typeface="Baskerville Display PT"/>
                <a:ea typeface="Baskerville Display PT"/>
                <a:cs typeface="Baskerville Display PT"/>
                <a:sym typeface="Baskerville Display PT"/>
              </a:rPr>
              <a:t>PROPOSED SYSTEM</a:t>
            </a:r>
          </a:p>
        </p:txBody>
      </p:sp>
      <p:sp>
        <p:nvSpPr>
          <p:cNvPr id="8" name="TextBox 8"/>
          <p:cNvSpPr txBox="1"/>
          <p:nvPr/>
        </p:nvSpPr>
        <p:spPr>
          <a:xfrm>
            <a:off x="3251785" y="4024484"/>
            <a:ext cx="7692307" cy="3168650"/>
          </a:xfrm>
          <a:prstGeom prst="rect">
            <a:avLst/>
          </a:prstGeom>
        </p:spPr>
        <p:txBody>
          <a:bodyPr lIns="0" tIns="0" rIns="0" bIns="0" rtlCol="0" anchor="t">
            <a:spAutoFit/>
          </a:bodyPr>
          <a:lstStyle/>
          <a:p>
            <a:pPr algn="just">
              <a:lnSpc>
                <a:spcPts val="2800"/>
              </a:lnSpc>
            </a:pPr>
            <a:r>
              <a:rPr lang="en-US" sz="2000">
                <a:solidFill>
                  <a:srgbClr val="504C44"/>
                </a:solidFill>
                <a:latin typeface="Inter"/>
                <a:ea typeface="Inter"/>
                <a:cs typeface="Inter"/>
                <a:sym typeface="Inter"/>
              </a:rPr>
              <a:t>The proposed system will utilize advanced technologies to streamline processes, ensure data integrity, and augment operational efficiency. Key features include a unified database, automated workflow management, multilingual capabilities, and a user centric software solution. Furthermore, authorized users will have secure access to residents' medical and educational records, facilitating data-driven decision-making and enhanced care coordination. </a:t>
            </a:r>
          </a:p>
          <a:p>
            <a:pPr algn="just">
              <a:lnSpc>
                <a:spcPts val="2800"/>
              </a:lnSpc>
            </a:pPr>
            <a:endParaRPr lang="en-US" sz="2000">
              <a:solidFill>
                <a:srgbClr val="504C44"/>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4" name="TextBox 4"/>
          <p:cNvSpPr txBox="1"/>
          <p:nvPr/>
        </p:nvSpPr>
        <p:spPr>
          <a:xfrm>
            <a:off x="1028700" y="962025"/>
            <a:ext cx="4363094" cy="669925"/>
          </a:xfrm>
          <a:prstGeom prst="rect">
            <a:avLst/>
          </a:prstGeom>
        </p:spPr>
        <p:txBody>
          <a:bodyPr lIns="0" tIns="0" rIns="0" bIns="0" rtlCol="0" anchor="t">
            <a:spAutoFit/>
          </a:bodyPr>
          <a:lstStyle/>
          <a:p>
            <a:pPr algn="l">
              <a:lnSpc>
                <a:spcPts val="5599"/>
              </a:lnSpc>
            </a:pPr>
            <a:r>
              <a:rPr lang="en-US" sz="3999" spc="799">
                <a:solidFill>
                  <a:srgbClr val="504C44"/>
                </a:solidFill>
                <a:latin typeface="Baskerville Display PT"/>
                <a:ea typeface="Baskerville Display PT"/>
                <a:cs typeface="Baskerville Display PT"/>
                <a:sym typeface="Baskerville Display PT"/>
              </a:rPr>
              <a:t>MODULES </a:t>
            </a:r>
          </a:p>
        </p:txBody>
      </p:sp>
      <p:sp>
        <p:nvSpPr>
          <p:cNvPr id="5" name="TextBox 5"/>
          <p:cNvSpPr txBox="1"/>
          <p:nvPr/>
        </p:nvSpPr>
        <p:spPr>
          <a:xfrm>
            <a:off x="8686800" y="4533900"/>
            <a:ext cx="8899784" cy="1231709"/>
          </a:xfrm>
          <a:prstGeom prst="rect">
            <a:avLst/>
          </a:prstGeom>
        </p:spPr>
        <p:txBody>
          <a:bodyPr lIns="0" tIns="0" rIns="0" bIns="0" rtlCol="0" anchor="t">
            <a:spAutoFit/>
          </a:bodyPr>
          <a:lstStyle/>
          <a:p>
            <a:pPr marL="507999" lvl="1" indent="-253999" algn="l">
              <a:lnSpc>
                <a:spcPts val="3294"/>
              </a:lnSpc>
              <a:buFont typeface="Arial"/>
              <a:buChar char="•"/>
            </a:pPr>
            <a:r>
              <a:rPr lang="en-US" sz="2352" dirty="0">
                <a:solidFill>
                  <a:srgbClr val="504C44"/>
                </a:solidFill>
                <a:latin typeface="Inter"/>
                <a:ea typeface="Inter"/>
                <a:cs typeface="Inter"/>
                <a:sym typeface="Inter"/>
              </a:rPr>
              <a:t>User -the general public who can use the website. </a:t>
            </a:r>
          </a:p>
          <a:p>
            <a:pPr algn="l">
              <a:lnSpc>
                <a:spcPts val="3294"/>
              </a:lnSpc>
            </a:pPr>
            <a:endParaRPr lang="en-US" sz="2352" dirty="0">
              <a:solidFill>
                <a:srgbClr val="504C44"/>
              </a:solidFill>
              <a:latin typeface="Inter"/>
              <a:ea typeface="Inter"/>
              <a:cs typeface="Inter"/>
              <a:sym typeface="Inter"/>
            </a:endParaRPr>
          </a:p>
          <a:p>
            <a:pPr marL="507999" lvl="1" indent="-253999" algn="l">
              <a:lnSpc>
                <a:spcPts val="3294"/>
              </a:lnSpc>
              <a:buFont typeface="Arial"/>
              <a:buChar char="•"/>
            </a:pPr>
            <a:r>
              <a:rPr lang="en-US" sz="2352" dirty="0">
                <a:solidFill>
                  <a:srgbClr val="504C44"/>
                </a:solidFill>
                <a:latin typeface="Inter"/>
                <a:ea typeface="Inter"/>
                <a:cs typeface="Inter"/>
                <a:sym typeface="Inter"/>
              </a:rPr>
              <a:t>Admin-the administrator who manages the facility.</a:t>
            </a:r>
          </a:p>
        </p:txBody>
      </p:sp>
      <p:sp>
        <p:nvSpPr>
          <p:cNvPr id="6" name="TextBox 6"/>
          <p:cNvSpPr txBox="1"/>
          <p:nvPr/>
        </p:nvSpPr>
        <p:spPr>
          <a:xfrm>
            <a:off x="8458200" y="3543300"/>
            <a:ext cx="8210486" cy="669925"/>
          </a:xfrm>
          <a:prstGeom prst="rect">
            <a:avLst/>
          </a:prstGeom>
        </p:spPr>
        <p:txBody>
          <a:bodyPr lIns="0" tIns="0" rIns="0" bIns="0" rtlCol="0" anchor="t">
            <a:spAutoFit/>
          </a:bodyPr>
          <a:lstStyle/>
          <a:p>
            <a:pPr algn="l">
              <a:lnSpc>
                <a:spcPts val="5599"/>
              </a:lnSpc>
            </a:pPr>
            <a:r>
              <a:rPr lang="en-US" sz="3999" spc="799" dirty="0">
                <a:solidFill>
                  <a:srgbClr val="504C44"/>
                </a:solidFill>
                <a:latin typeface="Baskerville Display PT"/>
                <a:ea typeface="Baskerville Display PT"/>
                <a:cs typeface="Baskerville Display PT"/>
                <a:sym typeface="Baskerville Display PT"/>
              </a:rPr>
              <a:t>USERS OF THE SYSTEM</a:t>
            </a:r>
          </a:p>
        </p:txBody>
      </p:sp>
      <p:sp>
        <p:nvSpPr>
          <p:cNvPr id="7" name="TextBox 7"/>
          <p:cNvSpPr txBox="1"/>
          <p:nvPr/>
        </p:nvSpPr>
        <p:spPr>
          <a:xfrm>
            <a:off x="1028700" y="2467337"/>
            <a:ext cx="4363094" cy="4912397"/>
          </a:xfrm>
          <a:prstGeom prst="rect">
            <a:avLst/>
          </a:prstGeom>
        </p:spPr>
        <p:txBody>
          <a:bodyPr lIns="0" tIns="0" rIns="0" bIns="0" rtlCol="0" anchor="t">
            <a:spAutoFit/>
          </a:bodyPr>
          <a:lstStyle/>
          <a:p>
            <a:pPr marL="547979" lvl="1" indent="-273989" algn="just">
              <a:lnSpc>
                <a:spcPts val="3553"/>
              </a:lnSpc>
              <a:buFont typeface="Arial"/>
              <a:buChar char="•"/>
            </a:pPr>
            <a:r>
              <a:rPr lang="en-US" sz="2538">
                <a:solidFill>
                  <a:srgbClr val="504C44"/>
                </a:solidFill>
                <a:latin typeface="Inter"/>
                <a:ea typeface="Inter"/>
                <a:cs typeface="Inter"/>
                <a:sym typeface="Inter"/>
              </a:rPr>
              <a:t>Signup</a:t>
            </a:r>
          </a:p>
          <a:p>
            <a:pPr algn="just">
              <a:lnSpc>
                <a:spcPts val="3553"/>
              </a:lnSpc>
            </a:pPr>
            <a:endParaRPr lang="en-US" sz="2538">
              <a:solidFill>
                <a:srgbClr val="504C44"/>
              </a:solidFill>
              <a:latin typeface="Inter"/>
              <a:ea typeface="Inter"/>
              <a:cs typeface="Inter"/>
              <a:sym typeface="Inter"/>
            </a:endParaRPr>
          </a:p>
          <a:p>
            <a:pPr marL="547979" lvl="1" indent="-273989" algn="just">
              <a:lnSpc>
                <a:spcPts val="3553"/>
              </a:lnSpc>
              <a:buFont typeface="Arial"/>
              <a:buChar char="•"/>
            </a:pPr>
            <a:r>
              <a:rPr lang="en-US" sz="2538">
                <a:solidFill>
                  <a:srgbClr val="504C44"/>
                </a:solidFill>
                <a:latin typeface="Inter"/>
                <a:ea typeface="Inter"/>
                <a:cs typeface="Inter"/>
                <a:sym typeface="Inter"/>
              </a:rPr>
              <a:t>Login</a:t>
            </a:r>
          </a:p>
          <a:p>
            <a:pPr algn="just">
              <a:lnSpc>
                <a:spcPts val="3553"/>
              </a:lnSpc>
            </a:pPr>
            <a:endParaRPr lang="en-US" sz="2538">
              <a:solidFill>
                <a:srgbClr val="504C44"/>
              </a:solidFill>
              <a:latin typeface="Inter"/>
              <a:ea typeface="Inter"/>
              <a:cs typeface="Inter"/>
              <a:sym typeface="Inter"/>
            </a:endParaRPr>
          </a:p>
          <a:p>
            <a:pPr marL="547979" lvl="1" indent="-273989" algn="just">
              <a:lnSpc>
                <a:spcPts val="3553"/>
              </a:lnSpc>
              <a:buFont typeface="Arial"/>
              <a:buChar char="•"/>
            </a:pPr>
            <a:r>
              <a:rPr lang="en-US" sz="2538">
                <a:solidFill>
                  <a:srgbClr val="504C44"/>
                </a:solidFill>
                <a:latin typeface="Inter"/>
                <a:ea typeface="Inter"/>
                <a:cs typeface="Inter"/>
                <a:sym typeface="Inter"/>
              </a:rPr>
              <a:t>Donation</a:t>
            </a:r>
          </a:p>
          <a:p>
            <a:pPr algn="just">
              <a:lnSpc>
                <a:spcPts val="3553"/>
              </a:lnSpc>
            </a:pPr>
            <a:endParaRPr lang="en-US" sz="2538">
              <a:solidFill>
                <a:srgbClr val="504C44"/>
              </a:solidFill>
              <a:latin typeface="Inter"/>
              <a:ea typeface="Inter"/>
              <a:cs typeface="Inter"/>
              <a:sym typeface="Inter"/>
            </a:endParaRPr>
          </a:p>
          <a:p>
            <a:pPr marL="547979" lvl="1" indent="-273989" algn="just">
              <a:lnSpc>
                <a:spcPts val="3553"/>
              </a:lnSpc>
              <a:buFont typeface="Arial"/>
              <a:buChar char="•"/>
            </a:pPr>
            <a:r>
              <a:rPr lang="en-US" sz="2538">
                <a:solidFill>
                  <a:srgbClr val="504C44"/>
                </a:solidFill>
                <a:latin typeface="Inter"/>
                <a:ea typeface="Inter"/>
                <a:cs typeface="Inter"/>
                <a:sym typeface="Inter"/>
              </a:rPr>
              <a:t>Appointment</a:t>
            </a:r>
          </a:p>
          <a:p>
            <a:pPr algn="just">
              <a:lnSpc>
                <a:spcPts val="3553"/>
              </a:lnSpc>
            </a:pPr>
            <a:endParaRPr lang="en-US" sz="2538">
              <a:solidFill>
                <a:srgbClr val="504C44"/>
              </a:solidFill>
              <a:latin typeface="Inter"/>
              <a:ea typeface="Inter"/>
              <a:cs typeface="Inter"/>
              <a:sym typeface="Inter"/>
            </a:endParaRPr>
          </a:p>
          <a:p>
            <a:pPr marL="547979" lvl="1" indent="-273989" algn="just">
              <a:lnSpc>
                <a:spcPts val="3553"/>
              </a:lnSpc>
              <a:buFont typeface="Arial"/>
              <a:buChar char="•"/>
            </a:pPr>
            <a:r>
              <a:rPr lang="en-US" sz="2538">
                <a:solidFill>
                  <a:srgbClr val="504C44"/>
                </a:solidFill>
                <a:latin typeface="Inter"/>
                <a:ea typeface="Inter"/>
                <a:cs typeface="Inter"/>
                <a:sym typeface="Inter"/>
              </a:rPr>
              <a:t>Record Request</a:t>
            </a:r>
          </a:p>
          <a:p>
            <a:pPr algn="just">
              <a:lnSpc>
                <a:spcPts val="3553"/>
              </a:lnSpc>
            </a:pPr>
            <a:endParaRPr lang="en-US" sz="2538">
              <a:solidFill>
                <a:srgbClr val="504C44"/>
              </a:solidFill>
              <a:latin typeface="Inter"/>
              <a:ea typeface="Inter"/>
              <a:cs typeface="Inter"/>
              <a:sym typeface="Inter"/>
            </a:endParaRPr>
          </a:p>
          <a:p>
            <a:pPr marL="547979" lvl="1" indent="-273989" algn="just">
              <a:lnSpc>
                <a:spcPts val="3553"/>
              </a:lnSpc>
              <a:spcBef>
                <a:spcPct val="0"/>
              </a:spcBef>
              <a:buFont typeface="Arial"/>
              <a:buChar char="•"/>
            </a:pPr>
            <a:r>
              <a:rPr lang="en-US" sz="2538">
                <a:solidFill>
                  <a:srgbClr val="504C44"/>
                </a:solidFill>
                <a:latin typeface="Inter"/>
                <a:ea typeface="Inter"/>
                <a:cs typeface="Inter"/>
                <a:sym typeface="Inter"/>
              </a:rPr>
              <a:t>Billing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450000" r="-13450000"/>
            </a:stretch>
          </a:blipFill>
        </p:spPr>
      </p:sp>
      <p:sp>
        <p:nvSpPr>
          <p:cNvPr id="3" name="Freeform 3"/>
          <p:cNvSpPr/>
          <p:nvPr/>
        </p:nvSpPr>
        <p:spPr>
          <a:xfrm>
            <a:off x="673972" y="1518297"/>
            <a:ext cx="8115300" cy="8587619"/>
          </a:xfrm>
          <a:custGeom>
            <a:avLst/>
            <a:gdLst/>
            <a:ahLst/>
            <a:cxnLst/>
            <a:rect l="l" t="t" r="r" b="b"/>
            <a:pathLst>
              <a:path w="8115300" h="8587619">
                <a:moveTo>
                  <a:pt x="0" y="0"/>
                </a:moveTo>
                <a:lnTo>
                  <a:pt x="8115300" y="0"/>
                </a:lnTo>
                <a:lnTo>
                  <a:pt x="8115300" y="8587619"/>
                </a:lnTo>
                <a:lnTo>
                  <a:pt x="0" y="8587619"/>
                </a:lnTo>
                <a:lnTo>
                  <a:pt x="0" y="0"/>
                </a:lnTo>
                <a:close/>
              </a:path>
            </a:pathLst>
          </a:custGeom>
          <a:blipFill>
            <a:blip r:embed="rId3"/>
            <a:stretch>
              <a:fillRect/>
            </a:stretch>
          </a:blipFill>
        </p:spPr>
      </p:sp>
      <p:sp>
        <p:nvSpPr>
          <p:cNvPr id="4" name="Freeform 4"/>
          <p:cNvSpPr/>
          <p:nvPr/>
        </p:nvSpPr>
        <p:spPr>
          <a:xfrm>
            <a:off x="9857007" y="2356746"/>
            <a:ext cx="8430993" cy="5977362"/>
          </a:xfrm>
          <a:custGeom>
            <a:avLst/>
            <a:gdLst/>
            <a:ahLst/>
            <a:cxnLst/>
            <a:rect l="l" t="t" r="r" b="b"/>
            <a:pathLst>
              <a:path w="8430993" h="5977362">
                <a:moveTo>
                  <a:pt x="0" y="0"/>
                </a:moveTo>
                <a:lnTo>
                  <a:pt x="8430993" y="0"/>
                </a:lnTo>
                <a:lnTo>
                  <a:pt x="8430993" y="5977362"/>
                </a:lnTo>
                <a:lnTo>
                  <a:pt x="0" y="5977362"/>
                </a:lnTo>
                <a:lnTo>
                  <a:pt x="0" y="0"/>
                </a:lnTo>
                <a:close/>
              </a:path>
            </a:pathLst>
          </a:custGeom>
          <a:blipFill>
            <a:blip r:embed="rId4"/>
            <a:stretch>
              <a:fillRect l="-822" r="-822"/>
            </a:stretch>
          </a:blipFill>
        </p:spPr>
      </p:sp>
      <p:sp>
        <p:nvSpPr>
          <p:cNvPr id="5" name="TextBox 5"/>
          <p:cNvSpPr txBox="1"/>
          <p:nvPr/>
        </p:nvSpPr>
        <p:spPr>
          <a:xfrm>
            <a:off x="7497414" y="209197"/>
            <a:ext cx="3293173" cy="819503"/>
          </a:xfrm>
          <a:prstGeom prst="rect">
            <a:avLst/>
          </a:prstGeom>
        </p:spPr>
        <p:txBody>
          <a:bodyPr lIns="0" tIns="0" rIns="0" bIns="0" rtlCol="0" anchor="t">
            <a:spAutoFit/>
          </a:bodyPr>
          <a:lstStyle/>
          <a:p>
            <a:pPr algn="ctr">
              <a:lnSpc>
                <a:spcPts val="6762"/>
              </a:lnSpc>
              <a:spcBef>
                <a:spcPct val="0"/>
              </a:spcBef>
            </a:pPr>
            <a:r>
              <a:rPr lang="en-US" sz="4830">
                <a:solidFill>
                  <a:srgbClr val="000000"/>
                </a:solidFill>
                <a:latin typeface="Baskerville Display PT"/>
                <a:ea typeface="Baskerville Display PT"/>
                <a:cs typeface="Baskerville Display PT"/>
                <a:sym typeface="Baskerville Display PT"/>
              </a:rPr>
              <a:t>DIAGRAMS </a:t>
            </a:r>
          </a:p>
        </p:txBody>
      </p:sp>
      <p:sp>
        <p:nvSpPr>
          <p:cNvPr id="6" name="TextBox 6"/>
          <p:cNvSpPr txBox="1"/>
          <p:nvPr/>
        </p:nvSpPr>
        <p:spPr>
          <a:xfrm>
            <a:off x="1028700" y="971551"/>
            <a:ext cx="3543300" cy="545599"/>
          </a:xfrm>
          <a:prstGeom prst="rect">
            <a:avLst/>
          </a:prstGeom>
        </p:spPr>
        <p:txBody>
          <a:bodyPr wrap="square" lIns="0" tIns="0" rIns="0" bIns="0" rtlCol="0" anchor="t">
            <a:spAutoFit/>
          </a:bodyPr>
          <a:lstStyle/>
          <a:p>
            <a:pPr algn="ctr">
              <a:lnSpc>
                <a:spcPts val="4514"/>
              </a:lnSpc>
              <a:spcBef>
                <a:spcPct val="0"/>
              </a:spcBef>
            </a:pPr>
            <a:r>
              <a:rPr lang="en-US" sz="3224" dirty="0">
                <a:solidFill>
                  <a:srgbClr val="000000"/>
                </a:solidFill>
                <a:latin typeface="Baskerville Display PT"/>
                <a:ea typeface="Baskerville Display PT"/>
                <a:cs typeface="Baskerville Display PT"/>
                <a:sym typeface="Baskerville Display PT"/>
              </a:rPr>
              <a:t>ER DIAGRAM</a:t>
            </a:r>
          </a:p>
        </p:txBody>
      </p:sp>
      <p:sp>
        <p:nvSpPr>
          <p:cNvPr id="7" name="TextBox 7"/>
          <p:cNvSpPr txBox="1"/>
          <p:nvPr/>
        </p:nvSpPr>
        <p:spPr>
          <a:xfrm>
            <a:off x="12007964" y="971435"/>
            <a:ext cx="5251336" cy="546862"/>
          </a:xfrm>
          <a:prstGeom prst="rect">
            <a:avLst/>
          </a:prstGeom>
        </p:spPr>
        <p:txBody>
          <a:bodyPr lIns="0" tIns="0" rIns="0" bIns="0" rtlCol="0" anchor="t">
            <a:spAutoFit/>
          </a:bodyPr>
          <a:lstStyle/>
          <a:p>
            <a:pPr algn="ctr">
              <a:lnSpc>
                <a:spcPts val="4507"/>
              </a:lnSpc>
              <a:spcBef>
                <a:spcPct val="0"/>
              </a:spcBef>
            </a:pPr>
            <a:r>
              <a:rPr lang="en-US" sz="3219">
                <a:solidFill>
                  <a:srgbClr val="000000"/>
                </a:solidFill>
                <a:latin typeface="Baskerville Display PT"/>
                <a:ea typeface="Baskerville Display PT"/>
                <a:cs typeface="Baskerville Display PT"/>
                <a:sym typeface="Baskerville Display PT"/>
              </a:rPr>
              <a:t>SYSTEM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028700" y="2334207"/>
            <a:ext cx="7784074" cy="2809293"/>
          </a:xfrm>
          <a:custGeom>
            <a:avLst/>
            <a:gdLst/>
            <a:ahLst/>
            <a:cxnLst/>
            <a:rect l="l" t="t" r="r" b="b"/>
            <a:pathLst>
              <a:path w="7784074" h="2809293">
                <a:moveTo>
                  <a:pt x="0" y="0"/>
                </a:moveTo>
                <a:lnTo>
                  <a:pt x="7784074" y="0"/>
                </a:lnTo>
                <a:lnTo>
                  <a:pt x="7784074" y="2809293"/>
                </a:lnTo>
                <a:lnTo>
                  <a:pt x="0" y="2809293"/>
                </a:lnTo>
                <a:lnTo>
                  <a:pt x="0" y="0"/>
                </a:lnTo>
                <a:close/>
              </a:path>
            </a:pathLst>
          </a:custGeom>
          <a:blipFill>
            <a:blip r:embed="rId2"/>
            <a:stretch>
              <a:fillRect t="-3703" b="-3703"/>
            </a:stretch>
          </a:blipFill>
        </p:spPr>
      </p:sp>
      <p:sp>
        <p:nvSpPr>
          <p:cNvPr id="3" name="Freeform 3"/>
          <p:cNvSpPr/>
          <p:nvPr/>
        </p:nvSpPr>
        <p:spPr>
          <a:xfrm>
            <a:off x="8994728" y="1613571"/>
            <a:ext cx="9293272" cy="8596276"/>
          </a:xfrm>
          <a:custGeom>
            <a:avLst/>
            <a:gdLst/>
            <a:ahLst/>
            <a:cxnLst/>
            <a:rect l="l" t="t" r="r" b="b"/>
            <a:pathLst>
              <a:path w="9293272" h="8596276">
                <a:moveTo>
                  <a:pt x="0" y="0"/>
                </a:moveTo>
                <a:lnTo>
                  <a:pt x="9293272" y="0"/>
                </a:lnTo>
                <a:lnTo>
                  <a:pt x="9293272" y="8596276"/>
                </a:lnTo>
                <a:lnTo>
                  <a:pt x="0" y="8596276"/>
                </a:lnTo>
                <a:lnTo>
                  <a:pt x="0" y="0"/>
                </a:lnTo>
                <a:close/>
              </a:path>
            </a:pathLst>
          </a:custGeom>
          <a:blipFill>
            <a:blip r:embed="rId3"/>
            <a:stretch>
              <a:fillRect/>
            </a:stretch>
          </a:blipFill>
        </p:spPr>
      </p:sp>
      <p:sp>
        <p:nvSpPr>
          <p:cNvPr id="4" name="TextBox 4"/>
          <p:cNvSpPr txBox="1"/>
          <p:nvPr/>
        </p:nvSpPr>
        <p:spPr>
          <a:xfrm>
            <a:off x="7992269" y="205804"/>
            <a:ext cx="1641010" cy="822896"/>
          </a:xfrm>
          <a:prstGeom prst="rect">
            <a:avLst/>
          </a:prstGeom>
        </p:spPr>
        <p:txBody>
          <a:bodyPr lIns="0" tIns="0" rIns="0" bIns="0" rtlCol="0" anchor="t">
            <a:spAutoFit/>
          </a:bodyPr>
          <a:lstStyle/>
          <a:p>
            <a:pPr algn="ctr">
              <a:lnSpc>
                <a:spcPts val="6712"/>
              </a:lnSpc>
              <a:spcBef>
                <a:spcPct val="0"/>
              </a:spcBef>
            </a:pPr>
            <a:r>
              <a:rPr lang="en-US" sz="4794">
                <a:solidFill>
                  <a:srgbClr val="000000"/>
                </a:solidFill>
                <a:latin typeface="Baskerville Display PT"/>
                <a:ea typeface="Baskerville Display PT"/>
                <a:cs typeface="Baskerville Display PT"/>
                <a:sym typeface="Baskerville Display PT"/>
              </a:rPr>
              <a:t>DFD </a:t>
            </a:r>
          </a:p>
        </p:txBody>
      </p:sp>
      <p:sp>
        <p:nvSpPr>
          <p:cNvPr id="5" name="TextBox 5"/>
          <p:cNvSpPr txBox="1"/>
          <p:nvPr/>
        </p:nvSpPr>
        <p:spPr>
          <a:xfrm>
            <a:off x="1914308" y="1311565"/>
            <a:ext cx="2048092" cy="545406"/>
          </a:xfrm>
          <a:prstGeom prst="rect">
            <a:avLst/>
          </a:prstGeom>
        </p:spPr>
        <p:txBody>
          <a:bodyPr wrap="square" lIns="0" tIns="0" rIns="0" bIns="0" rtlCol="0" anchor="t">
            <a:spAutoFit/>
          </a:bodyPr>
          <a:lstStyle/>
          <a:p>
            <a:pPr algn="ctr">
              <a:lnSpc>
                <a:spcPts val="4507"/>
              </a:lnSpc>
              <a:spcBef>
                <a:spcPct val="0"/>
              </a:spcBef>
            </a:pPr>
            <a:r>
              <a:rPr lang="en-US" sz="3219" dirty="0">
                <a:solidFill>
                  <a:srgbClr val="000000"/>
                </a:solidFill>
                <a:latin typeface="Baskerville Display PT"/>
                <a:ea typeface="Baskerville Display PT"/>
                <a:cs typeface="Baskerville Display PT"/>
                <a:sym typeface="Baskerville Display PT"/>
              </a:rPr>
              <a:t>LEVEL 0</a:t>
            </a:r>
          </a:p>
        </p:txBody>
      </p:sp>
      <p:sp>
        <p:nvSpPr>
          <p:cNvPr id="6" name="TextBox 6"/>
          <p:cNvSpPr txBox="1"/>
          <p:nvPr/>
        </p:nvSpPr>
        <p:spPr>
          <a:xfrm>
            <a:off x="12885958" y="1296094"/>
            <a:ext cx="1668242" cy="545406"/>
          </a:xfrm>
          <a:prstGeom prst="rect">
            <a:avLst/>
          </a:prstGeom>
        </p:spPr>
        <p:txBody>
          <a:bodyPr wrap="square" lIns="0" tIns="0" rIns="0" bIns="0" rtlCol="0" anchor="t">
            <a:spAutoFit/>
          </a:bodyPr>
          <a:lstStyle/>
          <a:p>
            <a:pPr algn="ctr">
              <a:lnSpc>
                <a:spcPts val="4507"/>
              </a:lnSpc>
              <a:spcBef>
                <a:spcPct val="0"/>
              </a:spcBef>
            </a:pPr>
            <a:r>
              <a:rPr lang="en-US" sz="3219" dirty="0">
                <a:solidFill>
                  <a:srgbClr val="000000"/>
                </a:solidFill>
                <a:latin typeface="Baskerville Display PT"/>
                <a:ea typeface="Baskerville Display PT"/>
                <a:cs typeface="Baskerville Display PT"/>
                <a:sym typeface="Baskerville Display PT"/>
              </a:rPr>
              <a:t>LEVEL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68497" y="2318625"/>
            <a:ext cx="5660854" cy="3233763"/>
          </a:xfrm>
          <a:custGeom>
            <a:avLst/>
            <a:gdLst/>
            <a:ahLst/>
            <a:cxnLst/>
            <a:rect l="l" t="t" r="r" b="b"/>
            <a:pathLst>
              <a:path w="5660854" h="3233763">
                <a:moveTo>
                  <a:pt x="0" y="0"/>
                </a:moveTo>
                <a:lnTo>
                  <a:pt x="5660854" y="0"/>
                </a:lnTo>
                <a:lnTo>
                  <a:pt x="5660854" y="3233763"/>
                </a:lnTo>
                <a:lnTo>
                  <a:pt x="0" y="3233763"/>
                </a:lnTo>
                <a:lnTo>
                  <a:pt x="0" y="0"/>
                </a:lnTo>
                <a:close/>
              </a:path>
            </a:pathLst>
          </a:custGeom>
          <a:blipFill>
            <a:blip r:embed="rId2"/>
            <a:stretch>
              <a:fillRect/>
            </a:stretch>
          </a:blipFill>
        </p:spPr>
      </p:sp>
      <p:sp>
        <p:nvSpPr>
          <p:cNvPr id="3" name="Freeform 3"/>
          <p:cNvSpPr/>
          <p:nvPr/>
        </p:nvSpPr>
        <p:spPr>
          <a:xfrm>
            <a:off x="1368497" y="6186066"/>
            <a:ext cx="5660854" cy="3608779"/>
          </a:xfrm>
          <a:custGeom>
            <a:avLst/>
            <a:gdLst/>
            <a:ahLst/>
            <a:cxnLst/>
            <a:rect l="l" t="t" r="r" b="b"/>
            <a:pathLst>
              <a:path w="5660854" h="3608779">
                <a:moveTo>
                  <a:pt x="0" y="0"/>
                </a:moveTo>
                <a:lnTo>
                  <a:pt x="5660854" y="0"/>
                </a:lnTo>
                <a:lnTo>
                  <a:pt x="5660854" y="3608779"/>
                </a:lnTo>
                <a:lnTo>
                  <a:pt x="0" y="3608779"/>
                </a:lnTo>
                <a:lnTo>
                  <a:pt x="0" y="0"/>
                </a:lnTo>
                <a:close/>
              </a:path>
            </a:pathLst>
          </a:custGeom>
          <a:blipFill>
            <a:blip r:embed="rId3"/>
            <a:stretch>
              <a:fillRect t="-4519" b="-4519"/>
            </a:stretch>
          </a:blipFill>
        </p:spPr>
      </p:sp>
      <p:sp>
        <p:nvSpPr>
          <p:cNvPr id="4" name="Freeform 4"/>
          <p:cNvSpPr/>
          <p:nvPr/>
        </p:nvSpPr>
        <p:spPr>
          <a:xfrm>
            <a:off x="8911042" y="3686723"/>
            <a:ext cx="8111588" cy="3731330"/>
          </a:xfrm>
          <a:custGeom>
            <a:avLst/>
            <a:gdLst/>
            <a:ahLst/>
            <a:cxnLst/>
            <a:rect l="l" t="t" r="r" b="b"/>
            <a:pathLst>
              <a:path w="8111588" h="3731330">
                <a:moveTo>
                  <a:pt x="0" y="0"/>
                </a:moveTo>
                <a:lnTo>
                  <a:pt x="8111588" y="0"/>
                </a:lnTo>
                <a:lnTo>
                  <a:pt x="8111588" y="3731330"/>
                </a:lnTo>
                <a:lnTo>
                  <a:pt x="0" y="3731330"/>
                </a:lnTo>
                <a:lnTo>
                  <a:pt x="0" y="0"/>
                </a:lnTo>
                <a:close/>
              </a:path>
            </a:pathLst>
          </a:custGeom>
          <a:blipFill>
            <a:blip r:embed="rId4"/>
            <a:stretch>
              <a:fillRect/>
            </a:stretch>
          </a:blipFill>
        </p:spPr>
      </p:sp>
      <p:sp>
        <p:nvSpPr>
          <p:cNvPr id="5" name="TextBox 5"/>
          <p:cNvSpPr txBox="1"/>
          <p:nvPr/>
        </p:nvSpPr>
        <p:spPr>
          <a:xfrm>
            <a:off x="7029351" y="241632"/>
            <a:ext cx="4229299" cy="787068"/>
          </a:xfrm>
          <a:prstGeom prst="rect">
            <a:avLst/>
          </a:prstGeom>
        </p:spPr>
        <p:txBody>
          <a:bodyPr lIns="0" tIns="0" rIns="0" bIns="0" rtlCol="0" anchor="t">
            <a:spAutoFit/>
          </a:bodyPr>
          <a:lstStyle/>
          <a:p>
            <a:pPr algn="ctr">
              <a:lnSpc>
                <a:spcPts val="6493"/>
              </a:lnSpc>
              <a:spcBef>
                <a:spcPct val="0"/>
              </a:spcBef>
            </a:pPr>
            <a:r>
              <a:rPr lang="en-US" sz="4638">
                <a:solidFill>
                  <a:srgbClr val="000000"/>
                </a:solidFill>
                <a:latin typeface="Baskerville Display PT"/>
                <a:ea typeface="Baskerville Display PT"/>
                <a:cs typeface="Baskerville Display PT"/>
                <a:sym typeface="Baskerville Display PT"/>
              </a:rPr>
              <a:t>SCREENSHOTS </a:t>
            </a:r>
          </a:p>
        </p:txBody>
      </p:sp>
      <p:sp>
        <p:nvSpPr>
          <p:cNvPr id="6" name="TextBox 6"/>
          <p:cNvSpPr txBox="1"/>
          <p:nvPr/>
        </p:nvSpPr>
        <p:spPr>
          <a:xfrm>
            <a:off x="2875396" y="1878268"/>
            <a:ext cx="2161977"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SIGNUP PAGE</a:t>
            </a:r>
          </a:p>
        </p:txBody>
      </p:sp>
      <p:sp>
        <p:nvSpPr>
          <p:cNvPr id="7" name="TextBox 7"/>
          <p:cNvSpPr txBox="1"/>
          <p:nvPr/>
        </p:nvSpPr>
        <p:spPr>
          <a:xfrm>
            <a:off x="2875396" y="5745709"/>
            <a:ext cx="1939528"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LOGIN PAGE</a:t>
            </a:r>
          </a:p>
        </p:txBody>
      </p:sp>
      <p:sp>
        <p:nvSpPr>
          <p:cNvPr id="8" name="TextBox 8"/>
          <p:cNvSpPr txBox="1"/>
          <p:nvPr/>
        </p:nvSpPr>
        <p:spPr>
          <a:xfrm>
            <a:off x="11772043" y="3041083"/>
            <a:ext cx="2389584"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LOGIN (ADMIN)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627388" y="1526900"/>
            <a:ext cx="6009193" cy="7307674"/>
          </a:xfrm>
          <a:custGeom>
            <a:avLst/>
            <a:gdLst/>
            <a:ahLst/>
            <a:cxnLst/>
            <a:rect l="l" t="t" r="r" b="b"/>
            <a:pathLst>
              <a:path w="6009193" h="7307674">
                <a:moveTo>
                  <a:pt x="0" y="0"/>
                </a:moveTo>
                <a:lnTo>
                  <a:pt x="6009192" y="0"/>
                </a:lnTo>
                <a:lnTo>
                  <a:pt x="6009192" y="7307674"/>
                </a:lnTo>
                <a:lnTo>
                  <a:pt x="0" y="7307674"/>
                </a:lnTo>
                <a:lnTo>
                  <a:pt x="0" y="0"/>
                </a:lnTo>
                <a:close/>
              </a:path>
            </a:pathLst>
          </a:custGeom>
          <a:blipFill>
            <a:blip r:embed="rId2"/>
            <a:stretch>
              <a:fillRect l="-12690" r="-12517" b="-1029"/>
            </a:stretch>
          </a:blipFill>
        </p:spPr>
      </p:sp>
      <p:sp>
        <p:nvSpPr>
          <p:cNvPr id="3" name="Freeform 3"/>
          <p:cNvSpPr/>
          <p:nvPr/>
        </p:nvSpPr>
        <p:spPr>
          <a:xfrm>
            <a:off x="12295170" y="1411907"/>
            <a:ext cx="3533314" cy="8292004"/>
          </a:xfrm>
          <a:custGeom>
            <a:avLst/>
            <a:gdLst/>
            <a:ahLst/>
            <a:cxnLst/>
            <a:rect l="l" t="t" r="r" b="b"/>
            <a:pathLst>
              <a:path w="3533314" h="8292004">
                <a:moveTo>
                  <a:pt x="0" y="0"/>
                </a:moveTo>
                <a:lnTo>
                  <a:pt x="3533313" y="0"/>
                </a:lnTo>
                <a:lnTo>
                  <a:pt x="3533313" y="8292004"/>
                </a:lnTo>
                <a:lnTo>
                  <a:pt x="0" y="8292004"/>
                </a:lnTo>
                <a:lnTo>
                  <a:pt x="0" y="0"/>
                </a:lnTo>
                <a:close/>
              </a:path>
            </a:pathLst>
          </a:custGeom>
          <a:blipFill>
            <a:blip r:embed="rId3"/>
            <a:stretch>
              <a:fillRect r="-912"/>
            </a:stretch>
          </a:blipFill>
        </p:spPr>
      </p:sp>
      <p:sp>
        <p:nvSpPr>
          <p:cNvPr id="4" name="TextBox 4"/>
          <p:cNvSpPr txBox="1"/>
          <p:nvPr/>
        </p:nvSpPr>
        <p:spPr>
          <a:xfrm>
            <a:off x="2048701" y="1086543"/>
            <a:ext cx="3166567" cy="440357"/>
          </a:xfrm>
          <a:prstGeom prst="rect">
            <a:avLst/>
          </a:prstGeom>
        </p:spPr>
        <p:txBody>
          <a:bodyPr lIns="0" tIns="0" rIns="0" bIns="0" rtlCol="0" anchor="t">
            <a:spAutoFit/>
          </a:bodyPr>
          <a:lstStyle/>
          <a:p>
            <a:pPr algn="l">
              <a:lnSpc>
                <a:spcPts val="3553"/>
              </a:lnSpc>
              <a:spcBef>
                <a:spcPct val="0"/>
              </a:spcBef>
            </a:pPr>
            <a:r>
              <a:rPr lang="en-US" sz="2538">
                <a:solidFill>
                  <a:srgbClr val="000000"/>
                </a:solidFill>
                <a:latin typeface="Inter"/>
                <a:ea typeface="Inter"/>
                <a:cs typeface="Inter"/>
                <a:sym typeface="Inter"/>
              </a:rPr>
              <a:t>ADMIN DASHBOARD</a:t>
            </a:r>
          </a:p>
        </p:txBody>
      </p:sp>
      <p:sp>
        <p:nvSpPr>
          <p:cNvPr id="5" name="TextBox 5"/>
          <p:cNvSpPr txBox="1"/>
          <p:nvPr/>
        </p:nvSpPr>
        <p:spPr>
          <a:xfrm>
            <a:off x="13119894" y="779947"/>
            <a:ext cx="1916113"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HOME PAGE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028700" y="1220303"/>
            <a:ext cx="6611252" cy="8037997"/>
          </a:xfrm>
          <a:custGeom>
            <a:avLst/>
            <a:gdLst/>
            <a:ahLst/>
            <a:cxnLst/>
            <a:rect l="l" t="t" r="r" b="b"/>
            <a:pathLst>
              <a:path w="6611252" h="8037997">
                <a:moveTo>
                  <a:pt x="0" y="0"/>
                </a:moveTo>
                <a:lnTo>
                  <a:pt x="6611252" y="0"/>
                </a:lnTo>
                <a:lnTo>
                  <a:pt x="6611252" y="8037997"/>
                </a:lnTo>
                <a:lnTo>
                  <a:pt x="0" y="8037997"/>
                </a:lnTo>
                <a:lnTo>
                  <a:pt x="0" y="0"/>
                </a:lnTo>
                <a:close/>
              </a:path>
            </a:pathLst>
          </a:custGeom>
          <a:blipFill>
            <a:blip r:embed="rId2"/>
            <a:stretch>
              <a:fillRect/>
            </a:stretch>
          </a:blipFill>
        </p:spPr>
      </p:sp>
      <p:sp>
        <p:nvSpPr>
          <p:cNvPr id="3" name="Freeform 3"/>
          <p:cNvSpPr/>
          <p:nvPr/>
        </p:nvSpPr>
        <p:spPr>
          <a:xfrm>
            <a:off x="8851788" y="1377888"/>
            <a:ext cx="8706616" cy="7531223"/>
          </a:xfrm>
          <a:custGeom>
            <a:avLst/>
            <a:gdLst/>
            <a:ahLst/>
            <a:cxnLst/>
            <a:rect l="l" t="t" r="r" b="b"/>
            <a:pathLst>
              <a:path w="8706616" h="7531223">
                <a:moveTo>
                  <a:pt x="0" y="0"/>
                </a:moveTo>
                <a:lnTo>
                  <a:pt x="8706616" y="0"/>
                </a:lnTo>
                <a:lnTo>
                  <a:pt x="8706616" y="7531224"/>
                </a:lnTo>
                <a:lnTo>
                  <a:pt x="0" y="7531224"/>
                </a:lnTo>
                <a:lnTo>
                  <a:pt x="0" y="0"/>
                </a:lnTo>
                <a:close/>
              </a:path>
            </a:pathLst>
          </a:custGeom>
          <a:blipFill>
            <a:blip r:embed="rId3"/>
            <a:stretch>
              <a:fillRect/>
            </a:stretch>
          </a:blipFill>
        </p:spPr>
      </p:sp>
      <p:sp>
        <p:nvSpPr>
          <p:cNvPr id="4" name="TextBox 4"/>
          <p:cNvSpPr txBox="1"/>
          <p:nvPr/>
        </p:nvSpPr>
        <p:spPr>
          <a:xfrm>
            <a:off x="2910633" y="779947"/>
            <a:ext cx="2663329"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DONATION PAGE</a:t>
            </a:r>
          </a:p>
        </p:txBody>
      </p:sp>
      <p:sp>
        <p:nvSpPr>
          <p:cNvPr id="5" name="TextBox 5"/>
          <p:cNvSpPr txBox="1"/>
          <p:nvPr/>
        </p:nvSpPr>
        <p:spPr>
          <a:xfrm>
            <a:off x="11196767" y="779947"/>
            <a:ext cx="3289201"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APPOINTMENT PAGE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9144000" y="1770405"/>
            <a:ext cx="8618081" cy="5959827"/>
          </a:xfrm>
          <a:custGeom>
            <a:avLst/>
            <a:gdLst/>
            <a:ahLst/>
            <a:cxnLst/>
            <a:rect l="l" t="t" r="r" b="b"/>
            <a:pathLst>
              <a:path w="8618081" h="5959827">
                <a:moveTo>
                  <a:pt x="0" y="0"/>
                </a:moveTo>
                <a:lnTo>
                  <a:pt x="8618081" y="0"/>
                </a:lnTo>
                <a:lnTo>
                  <a:pt x="8618081" y="5959827"/>
                </a:lnTo>
                <a:lnTo>
                  <a:pt x="0" y="5959827"/>
                </a:lnTo>
                <a:lnTo>
                  <a:pt x="0" y="0"/>
                </a:lnTo>
                <a:close/>
              </a:path>
            </a:pathLst>
          </a:custGeom>
          <a:blipFill>
            <a:blip r:embed="rId2"/>
            <a:stretch>
              <a:fillRect l="-174" t="-1280" r="-174"/>
            </a:stretch>
          </a:blipFill>
        </p:spPr>
      </p:sp>
      <p:sp>
        <p:nvSpPr>
          <p:cNvPr id="3" name="Freeform 3"/>
          <p:cNvSpPr/>
          <p:nvPr/>
        </p:nvSpPr>
        <p:spPr>
          <a:xfrm>
            <a:off x="1028700" y="1028700"/>
            <a:ext cx="6007608" cy="8229600"/>
          </a:xfrm>
          <a:custGeom>
            <a:avLst/>
            <a:gdLst/>
            <a:ahLst/>
            <a:cxnLst/>
            <a:rect l="l" t="t" r="r" b="b"/>
            <a:pathLst>
              <a:path w="6007608" h="8229600">
                <a:moveTo>
                  <a:pt x="0" y="0"/>
                </a:moveTo>
                <a:lnTo>
                  <a:pt x="6007608" y="0"/>
                </a:lnTo>
                <a:lnTo>
                  <a:pt x="6007608" y="8229600"/>
                </a:lnTo>
                <a:lnTo>
                  <a:pt x="0" y="8229600"/>
                </a:lnTo>
                <a:lnTo>
                  <a:pt x="0" y="0"/>
                </a:lnTo>
                <a:close/>
              </a:path>
            </a:pathLst>
          </a:custGeom>
          <a:blipFill>
            <a:blip r:embed="rId3"/>
            <a:stretch>
              <a:fillRect/>
            </a:stretch>
          </a:blipFill>
        </p:spPr>
      </p:sp>
      <p:sp>
        <p:nvSpPr>
          <p:cNvPr id="4" name="TextBox 4"/>
          <p:cNvSpPr txBox="1"/>
          <p:nvPr/>
        </p:nvSpPr>
        <p:spPr>
          <a:xfrm>
            <a:off x="11577905" y="1330048"/>
            <a:ext cx="3750271"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RECORDREQUEST PAGE</a:t>
            </a:r>
          </a:p>
        </p:txBody>
      </p:sp>
      <p:sp>
        <p:nvSpPr>
          <p:cNvPr id="5" name="TextBox 5"/>
          <p:cNvSpPr txBox="1"/>
          <p:nvPr/>
        </p:nvSpPr>
        <p:spPr>
          <a:xfrm>
            <a:off x="2157369" y="588343"/>
            <a:ext cx="3750271"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RESIDENT PAGE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248413" y="1028700"/>
            <a:ext cx="5794281" cy="7913858"/>
          </a:xfrm>
          <a:custGeom>
            <a:avLst/>
            <a:gdLst/>
            <a:ahLst/>
            <a:cxnLst/>
            <a:rect l="l" t="t" r="r" b="b"/>
            <a:pathLst>
              <a:path w="5794281" h="7913858">
                <a:moveTo>
                  <a:pt x="0" y="0"/>
                </a:moveTo>
                <a:lnTo>
                  <a:pt x="5794281" y="0"/>
                </a:lnTo>
                <a:lnTo>
                  <a:pt x="5794281" y="7913858"/>
                </a:lnTo>
                <a:lnTo>
                  <a:pt x="0" y="7913858"/>
                </a:lnTo>
                <a:lnTo>
                  <a:pt x="0" y="0"/>
                </a:lnTo>
                <a:close/>
              </a:path>
            </a:pathLst>
          </a:custGeom>
          <a:blipFill>
            <a:blip r:embed="rId2"/>
            <a:stretch>
              <a:fillRect/>
            </a:stretch>
          </a:blipFill>
        </p:spPr>
      </p:sp>
      <p:sp>
        <p:nvSpPr>
          <p:cNvPr id="3" name="Freeform 3"/>
          <p:cNvSpPr/>
          <p:nvPr/>
        </p:nvSpPr>
        <p:spPr>
          <a:xfrm>
            <a:off x="9144000" y="1028700"/>
            <a:ext cx="8410935" cy="7324839"/>
          </a:xfrm>
          <a:custGeom>
            <a:avLst/>
            <a:gdLst/>
            <a:ahLst/>
            <a:cxnLst/>
            <a:rect l="l" t="t" r="r" b="b"/>
            <a:pathLst>
              <a:path w="8410935" h="7324839">
                <a:moveTo>
                  <a:pt x="0" y="0"/>
                </a:moveTo>
                <a:lnTo>
                  <a:pt x="8410935" y="0"/>
                </a:lnTo>
                <a:lnTo>
                  <a:pt x="8410935" y="7324839"/>
                </a:lnTo>
                <a:lnTo>
                  <a:pt x="0" y="7324839"/>
                </a:lnTo>
                <a:lnTo>
                  <a:pt x="0" y="0"/>
                </a:lnTo>
                <a:close/>
              </a:path>
            </a:pathLst>
          </a:custGeom>
          <a:blipFill>
            <a:blip r:embed="rId3"/>
            <a:stretch>
              <a:fillRect/>
            </a:stretch>
          </a:blipFill>
        </p:spPr>
      </p:sp>
      <p:sp>
        <p:nvSpPr>
          <p:cNvPr id="4" name="TextBox 4"/>
          <p:cNvSpPr txBox="1"/>
          <p:nvPr/>
        </p:nvSpPr>
        <p:spPr>
          <a:xfrm>
            <a:off x="3144436" y="588343"/>
            <a:ext cx="2002234"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STORE PAGE</a:t>
            </a:r>
          </a:p>
        </p:txBody>
      </p:sp>
      <p:sp>
        <p:nvSpPr>
          <p:cNvPr id="5" name="TextBox 5"/>
          <p:cNvSpPr txBox="1"/>
          <p:nvPr/>
        </p:nvSpPr>
        <p:spPr>
          <a:xfrm>
            <a:off x="12348350" y="588343"/>
            <a:ext cx="2002234" cy="440357"/>
          </a:xfrm>
          <a:prstGeom prst="rect">
            <a:avLst/>
          </a:prstGeom>
        </p:spPr>
        <p:txBody>
          <a:bodyPr lIns="0" tIns="0" rIns="0" bIns="0" rtlCol="0" anchor="t">
            <a:spAutoFit/>
          </a:bodyPr>
          <a:lstStyle/>
          <a:p>
            <a:pPr algn="ctr">
              <a:lnSpc>
                <a:spcPts val="3553"/>
              </a:lnSpc>
              <a:spcBef>
                <a:spcPct val="0"/>
              </a:spcBef>
            </a:pPr>
            <a:r>
              <a:rPr lang="en-US" sz="2538">
                <a:solidFill>
                  <a:srgbClr val="000000"/>
                </a:solidFill>
                <a:latin typeface="Inter"/>
                <a:ea typeface="Inter"/>
                <a:cs typeface="Inter"/>
                <a:sym typeface="Inter"/>
              </a:rPr>
              <a:t>CART PAGE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5372100" cy="678519"/>
          </a:xfrm>
          <a:prstGeom prst="rect">
            <a:avLst/>
          </a:prstGeom>
        </p:spPr>
        <p:txBody>
          <a:bodyPr wrap="square" lIns="0" tIns="0" rIns="0" bIns="0" rtlCol="0" anchor="t">
            <a:spAutoFit/>
          </a:bodyPr>
          <a:lstStyle/>
          <a:p>
            <a:pPr algn="l">
              <a:lnSpc>
                <a:spcPts val="5599"/>
              </a:lnSpc>
            </a:pPr>
            <a:r>
              <a:rPr lang="en-US" sz="3999" spc="799" dirty="0">
                <a:solidFill>
                  <a:srgbClr val="504C44"/>
                </a:solidFill>
                <a:latin typeface="Baskerville Display PT"/>
                <a:ea typeface="Baskerville Display PT"/>
                <a:cs typeface="Baskerville Display PT"/>
                <a:sym typeface="Baskerville Display PT"/>
              </a:rPr>
              <a:t>CONCLUSION</a:t>
            </a:r>
          </a:p>
        </p:txBody>
      </p:sp>
      <p:sp>
        <p:nvSpPr>
          <p:cNvPr id="3" name="TextBox 3"/>
          <p:cNvSpPr txBox="1"/>
          <p:nvPr/>
        </p:nvSpPr>
        <p:spPr>
          <a:xfrm>
            <a:off x="1028700" y="5911352"/>
            <a:ext cx="16230600" cy="2111375"/>
          </a:xfrm>
          <a:prstGeom prst="rect">
            <a:avLst/>
          </a:prstGeom>
        </p:spPr>
        <p:txBody>
          <a:bodyPr lIns="0" tIns="0" rIns="0" bIns="0" rtlCol="0" anchor="t">
            <a:spAutoFit/>
          </a:bodyPr>
          <a:lstStyle/>
          <a:p>
            <a:pPr algn="just">
              <a:lnSpc>
                <a:spcPts val="2800"/>
              </a:lnSpc>
            </a:pPr>
            <a:r>
              <a:rPr lang="en-US" sz="2000">
                <a:solidFill>
                  <a:srgbClr val="504C44"/>
                </a:solidFill>
                <a:latin typeface="Inter"/>
                <a:ea typeface="Inter"/>
                <a:cs typeface="Inter"/>
                <a:sym typeface="Inter"/>
              </a:rPr>
              <a:t>•If this project is extended to further development, the new version can be implemented in the form of mobile application which can be easily accessible for staff and authorized family members. </a:t>
            </a:r>
          </a:p>
          <a:p>
            <a:pPr algn="just">
              <a:lnSpc>
                <a:spcPts val="2800"/>
              </a:lnSpc>
            </a:pPr>
            <a:endParaRPr lang="en-US" sz="2000">
              <a:solidFill>
                <a:srgbClr val="504C44"/>
              </a:solidFill>
              <a:latin typeface="Inter"/>
              <a:ea typeface="Inter"/>
              <a:cs typeface="Inter"/>
              <a:sym typeface="Inter"/>
            </a:endParaRPr>
          </a:p>
          <a:p>
            <a:pPr algn="just">
              <a:lnSpc>
                <a:spcPts val="2800"/>
              </a:lnSpc>
            </a:pPr>
            <a:r>
              <a:rPr lang="en-US" sz="2000">
                <a:solidFill>
                  <a:srgbClr val="504C44"/>
                </a:solidFill>
                <a:latin typeface="Inter"/>
                <a:ea typeface="Inter"/>
                <a:cs typeface="Inter"/>
                <a:sym typeface="Inter"/>
              </a:rPr>
              <a:t>•Launch targeted fundraising campaigns with social media and email integration, tracking progress and impact in real time. </a:t>
            </a:r>
          </a:p>
          <a:p>
            <a:pPr algn="just">
              <a:lnSpc>
                <a:spcPts val="2800"/>
              </a:lnSpc>
            </a:pPr>
            <a:r>
              <a:rPr lang="en-US" sz="2000">
                <a:solidFill>
                  <a:srgbClr val="504C44"/>
                </a:solidFill>
                <a:latin typeface="Inter"/>
                <a:ea typeface="Inter"/>
                <a:cs typeface="Inter"/>
                <a:sym typeface="Inter"/>
              </a:rPr>
              <a:t> </a:t>
            </a:r>
          </a:p>
          <a:p>
            <a:pPr algn="just">
              <a:lnSpc>
                <a:spcPts val="2800"/>
              </a:lnSpc>
            </a:pPr>
            <a:endParaRPr lang="en-US" sz="2000">
              <a:solidFill>
                <a:srgbClr val="504C44"/>
              </a:solidFill>
              <a:latin typeface="Inter"/>
              <a:ea typeface="Inter"/>
              <a:cs typeface="Inter"/>
              <a:sym typeface="Inter"/>
            </a:endParaRPr>
          </a:p>
        </p:txBody>
      </p:sp>
      <p:sp>
        <p:nvSpPr>
          <p:cNvPr id="4" name="TextBox 4"/>
          <p:cNvSpPr txBox="1"/>
          <p:nvPr/>
        </p:nvSpPr>
        <p:spPr>
          <a:xfrm>
            <a:off x="1028700" y="1584325"/>
            <a:ext cx="16230600" cy="1758950"/>
          </a:xfrm>
          <a:prstGeom prst="rect">
            <a:avLst/>
          </a:prstGeom>
        </p:spPr>
        <p:txBody>
          <a:bodyPr lIns="0" tIns="0" rIns="0" bIns="0" rtlCol="0" anchor="t">
            <a:spAutoFit/>
          </a:bodyPr>
          <a:lstStyle/>
          <a:p>
            <a:pPr algn="l">
              <a:lnSpc>
                <a:spcPts val="2800"/>
              </a:lnSpc>
            </a:pPr>
            <a:endParaRPr dirty="0"/>
          </a:p>
          <a:p>
            <a:pPr algn="just">
              <a:lnSpc>
                <a:spcPts val="2800"/>
              </a:lnSpc>
            </a:pPr>
            <a:r>
              <a:rPr lang="en-US" sz="2000" dirty="0">
                <a:solidFill>
                  <a:srgbClr val="504C44"/>
                </a:solidFill>
                <a:latin typeface="Inter"/>
                <a:ea typeface="Inter"/>
                <a:cs typeface="Inter"/>
                <a:sym typeface="Inter"/>
              </a:rPr>
              <a:t>The proposed integrated management system will significantly enhance the operations of the orphanage and elder care facility by streamlining processes, improving data management, and providing valuable insights. By addressing the limitations of manual systems, this solution will contribute to the overall well-being of residents and staff. </a:t>
            </a:r>
          </a:p>
          <a:p>
            <a:pPr algn="l">
              <a:lnSpc>
                <a:spcPts val="2800"/>
              </a:lnSpc>
            </a:pPr>
            <a:endParaRPr lang="en-US" sz="2000" dirty="0">
              <a:solidFill>
                <a:srgbClr val="504C44"/>
              </a:solidFill>
              <a:latin typeface="Inter"/>
              <a:ea typeface="Inter"/>
              <a:cs typeface="Inter"/>
              <a:sym typeface="Inter"/>
            </a:endParaRPr>
          </a:p>
        </p:txBody>
      </p:sp>
      <p:sp>
        <p:nvSpPr>
          <p:cNvPr id="5" name="TextBox 5"/>
          <p:cNvSpPr txBox="1"/>
          <p:nvPr/>
        </p:nvSpPr>
        <p:spPr>
          <a:xfrm>
            <a:off x="1028700" y="4775200"/>
            <a:ext cx="12586571" cy="669925"/>
          </a:xfrm>
          <a:prstGeom prst="rect">
            <a:avLst/>
          </a:prstGeom>
        </p:spPr>
        <p:txBody>
          <a:bodyPr lIns="0" tIns="0" rIns="0" bIns="0" rtlCol="0" anchor="t">
            <a:spAutoFit/>
          </a:bodyPr>
          <a:lstStyle/>
          <a:p>
            <a:pPr algn="l">
              <a:lnSpc>
                <a:spcPts val="5599"/>
              </a:lnSpc>
            </a:pPr>
            <a:r>
              <a:rPr lang="en-US" sz="3999" spc="799">
                <a:solidFill>
                  <a:srgbClr val="504C44"/>
                </a:solidFill>
                <a:latin typeface="Baskerville Display PT"/>
                <a:ea typeface="Baskerville Display PT"/>
                <a:cs typeface="Baskerville Display PT"/>
                <a:sym typeface="Baskerville Display PT"/>
              </a:rPr>
              <a:t>SCOPE FOR FURTHER DEVELOPMENT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5469434" y="3992713"/>
            <a:ext cx="7349133" cy="2072973"/>
          </a:xfrm>
          <a:prstGeom prst="rect">
            <a:avLst/>
          </a:prstGeom>
        </p:spPr>
        <p:txBody>
          <a:bodyPr lIns="0" tIns="0" rIns="0" bIns="0" rtlCol="0" anchor="t">
            <a:spAutoFit/>
          </a:bodyPr>
          <a:lstStyle/>
          <a:p>
            <a:pPr algn="ctr">
              <a:lnSpc>
                <a:spcPts val="16991"/>
              </a:lnSpc>
              <a:spcBef>
                <a:spcPct val="0"/>
              </a:spcBef>
            </a:pPr>
            <a:r>
              <a:rPr lang="en-US" sz="12136">
                <a:solidFill>
                  <a:srgbClr val="000000"/>
                </a:solidFill>
                <a:latin typeface="Baskerville Display PT"/>
                <a:ea typeface="Baskerville Display PT"/>
                <a:cs typeface="Baskerville Display PT"/>
                <a:sym typeface="Baskerville Display PT"/>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512</Words>
  <Application>Microsoft Office PowerPoint</Application>
  <PresentationFormat>Custom</PresentationFormat>
  <Paragraphs>83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Baskerville Display PT</vt:lpstr>
      <vt:lpstr>Inter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SERENITY FOUNDATION</dc:title>
  <cp:lastModifiedBy>Swapna Nair</cp:lastModifiedBy>
  <cp:revision>4</cp:revision>
  <dcterms:created xsi:type="dcterms:W3CDTF">2006-08-16T00:00:00Z</dcterms:created>
  <dcterms:modified xsi:type="dcterms:W3CDTF">2024-11-17T14:59:56Z</dcterms:modified>
  <dc:identifier>DAGWtK-02sg</dc:identifier>
</cp:coreProperties>
</file>